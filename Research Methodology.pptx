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Cy Grotesk Key Light" charset="1" panose="00000400000000000000"/>
      <p:regular r:id="rId23"/>
    </p:embeddedFont>
    <p:embeddedFont>
      <p:font typeface="Times New Roman" charset="1" panose="02020603050405020304"/>
      <p:regular r:id="rId24"/>
    </p:embeddedFont>
    <p:embeddedFont>
      <p:font typeface="Aileron Light" charset="1" panose="00000400000000000000"/>
      <p:regular r:id="rId25"/>
    </p:embeddedFont>
    <p:embeddedFont>
      <p:font typeface="Aileron" charset="1" panose="00000500000000000000"/>
      <p:regular r:id="rId26"/>
    </p:embeddedFont>
    <p:embeddedFont>
      <p:font typeface="Cy Grotesk Key" charset="1" panose="000005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15.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sp>
        <p:nvSpPr>
          <p:cNvPr name="AutoShape 2" id="2"/>
          <p:cNvSpPr/>
          <p:nvPr/>
        </p:nvSpPr>
        <p:spPr>
          <a:xfrm>
            <a:off x="0" y="7473467"/>
            <a:ext cx="18288000" cy="0"/>
          </a:xfrm>
          <a:prstGeom prst="line">
            <a:avLst/>
          </a:prstGeom>
          <a:ln cap="flat" w="19050">
            <a:solidFill>
              <a:srgbClr val="FE89AA"/>
            </a:solidFill>
            <a:prstDash val="solid"/>
            <a:headEnd type="none" len="sm" w="sm"/>
            <a:tailEnd type="none" len="sm" w="sm"/>
          </a:ln>
        </p:spPr>
      </p:sp>
      <p:grpSp>
        <p:nvGrpSpPr>
          <p:cNvPr name="Group 3" id="3"/>
          <p:cNvGrpSpPr/>
          <p:nvPr/>
        </p:nvGrpSpPr>
        <p:grpSpPr>
          <a:xfrm rot="0">
            <a:off x="14246314" y="7133859"/>
            <a:ext cx="3110200" cy="717317"/>
            <a:chOff x="0" y="0"/>
            <a:chExt cx="1762100" cy="406400"/>
          </a:xfrm>
        </p:grpSpPr>
        <p:sp>
          <p:nvSpPr>
            <p:cNvPr name="Freeform 4" id="4"/>
            <p:cNvSpPr/>
            <p:nvPr/>
          </p:nvSpPr>
          <p:spPr>
            <a:xfrm flipH="false" flipV="false" rot="0">
              <a:off x="0" y="0"/>
              <a:ext cx="1762100" cy="406400"/>
            </a:xfrm>
            <a:custGeom>
              <a:avLst/>
              <a:gdLst/>
              <a:ahLst/>
              <a:cxnLst/>
              <a:rect r="r" b="b" t="t" l="l"/>
              <a:pathLst>
                <a:path h="406400" w="1762100">
                  <a:moveTo>
                    <a:pt x="1558900" y="0"/>
                  </a:moveTo>
                  <a:cubicBezTo>
                    <a:pt x="1671125" y="0"/>
                    <a:pt x="1762100" y="90976"/>
                    <a:pt x="1762100" y="203200"/>
                  </a:cubicBezTo>
                  <a:cubicBezTo>
                    <a:pt x="1762100" y="315424"/>
                    <a:pt x="1671125" y="406400"/>
                    <a:pt x="1558900" y="406400"/>
                  </a:cubicBezTo>
                  <a:lnTo>
                    <a:pt x="203200" y="406400"/>
                  </a:lnTo>
                  <a:cubicBezTo>
                    <a:pt x="90976" y="406400"/>
                    <a:pt x="0" y="315424"/>
                    <a:pt x="0" y="203200"/>
                  </a:cubicBezTo>
                  <a:cubicBezTo>
                    <a:pt x="0" y="90976"/>
                    <a:pt x="90976" y="0"/>
                    <a:pt x="203200" y="0"/>
                  </a:cubicBezTo>
                  <a:close/>
                </a:path>
              </a:pathLst>
            </a:custGeom>
            <a:solidFill>
              <a:srgbClr val="FAF9F4"/>
            </a:solidFill>
            <a:ln w="19050" cap="sq">
              <a:solidFill>
                <a:srgbClr val="FE89AA"/>
              </a:solidFill>
              <a:prstDash val="solid"/>
              <a:miter/>
            </a:ln>
          </p:spPr>
        </p:sp>
        <p:sp>
          <p:nvSpPr>
            <p:cNvPr name="TextBox 5" id="5"/>
            <p:cNvSpPr txBox="true"/>
            <p:nvPr/>
          </p:nvSpPr>
          <p:spPr>
            <a:xfrm>
              <a:off x="0" y="104775"/>
              <a:ext cx="1762100" cy="301625"/>
            </a:xfrm>
            <a:prstGeom prst="rect">
              <a:avLst/>
            </a:prstGeom>
          </p:spPr>
          <p:txBody>
            <a:bodyPr anchor="ctr" rtlCol="false" tIns="50800" lIns="50800" bIns="50800" rIns="50800"/>
            <a:lstStyle/>
            <a:p>
              <a:pPr algn="ctr" marL="0" indent="0" lvl="0">
                <a:lnSpc>
                  <a:spcPts val="2240"/>
                </a:lnSpc>
                <a:spcBef>
                  <a:spcPct val="0"/>
                </a:spcBef>
              </a:pPr>
              <a:r>
                <a:rPr lang="en-US" sz="2800" spc="-294">
                  <a:solidFill>
                    <a:srgbClr val="FE89AA"/>
                  </a:solidFill>
                  <a:latin typeface="Cy Grotesk Key Light"/>
                  <a:ea typeface="Cy Grotesk Key Light"/>
                  <a:cs typeface="Cy Grotesk Key Light"/>
                  <a:sym typeface="Cy Grotesk Key Light"/>
                </a:rPr>
                <a:t>PRESENTED BY</a:t>
              </a:r>
            </a:p>
          </p:txBody>
        </p:sp>
      </p:grpSp>
      <p:sp>
        <p:nvSpPr>
          <p:cNvPr name="Freeform 6" id="6"/>
          <p:cNvSpPr/>
          <p:nvPr/>
        </p:nvSpPr>
        <p:spPr>
          <a:xfrm flipH="false" flipV="false" rot="0">
            <a:off x="5079726" y="8190993"/>
            <a:ext cx="962106" cy="1255603"/>
          </a:xfrm>
          <a:custGeom>
            <a:avLst/>
            <a:gdLst/>
            <a:ahLst/>
            <a:cxnLst/>
            <a:rect r="r" b="b" t="t" l="l"/>
            <a:pathLst>
              <a:path h="1255603" w="962106">
                <a:moveTo>
                  <a:pt x="0" y="0"/>
                </a:moveTo>
                <a:lnTo>
                  <a:pt x="962106" y="0"/>
                </a:lnTo>
                <a:lnTo>
                  <a:pt x="962106" y="1255603"/>
                </a:lnTo>
                <a:lnTo>
                  <a:pt x="0" y="1255603"/>
                </a:lnTo>
                <a:lnTo>
                  <a:pt x="0" y="0"/>
                </a:lnTo>
                <a:close/>
              </a:path>
            </a:pathLst>
          </a:custGeom>
          <a:blipFill>
            <a:blip r:embed="rId2"/>
            <a:stretch>
              <a:fillRect l="0" t="0" r="0" b="0"/>
            </a:stretch>
          </a:blipFill>
        </p:spPr>
      </p:sp>
      <p:sp>
        <p:nvSpPr>
          <p:cNvPr name="Freeform 7" id="7"/>
          <p:cNvSpPr/>
          <p:nvPr/>
        </p:nvSpPr>
        <p:spPr>
          <a:xfrm flipH="false" flipV="false" rot="0">
            <a:off x="11621212" y="6307838"/>
            <a:ext cx="962106" cy="1255603"/>
          </a:xfrm>
          <a:custGeom>
            <a:avLst/>
            <a:gdLst/>
            <a:ahLst/>
            <a:cxnLst/>
            <a:rect r="r" b="b" t="t" l="l"/>
            <a:pathLst>
              <a:path h="1255603" w="962106">
                <a:moveTo>
                  <a:pt x="0" y="0"/>
                </a:moveTo>
                <a:lnTo>
                  <a:pt x="962106" y="0"/>
                </a:lnTo>
                <a:lnTo>
                  <a:pt x="962106" y="1255603"/>
                </a:lnTo>
                <a:lnTo>
                  <a:pt x="0" y="1255603"/>
                </a:lnTo>
                <a:lnTo>
                  <a:pt x="0" y="0"/>
                </a:lnTo>
                <a:close/>
              </a:path>
            </a:pathLst>
          </a:custGeom>
          <a:blipFill>
            <a:blip r:embed="rId2"/>
            <a:stretch>
              <a:fillRect l="0" t="0" r="0" b="0"/>
            </a:stretch>
          </a:blipFill>
        </p:spPr>
      </p:sp>
      <p:sp>
        <p:nvSpPr>
          <p:cNvPr name="Freeform 8" id="8"/>
          <p:cNvSpPr/>
          <p:nvPr/>
        </p:nvSpPr>
        <p:spPr>
          <a:xfrm flipH="false" flipV="false" rot="0">
            <a:off x="16198146" y="608281"/>
            <a:ext cx="1327486" cy="1352070"/>
          </a:xfrm>
          <a:custGeom>
            <a:avLst/>
            <a:gdLst/>
            <a:ahLst/>
            <a:cxnLst/>
            <a:rect r="r" b="b" t="t" l="l"/>
            <a:pathLst>
              <a:path h="1352070" w="1327486">
                <a:moveTo>
                  <a:pt x="0" y="0"/>
                </a:moveTo>
                <a:lnTo>
                  <a:pt x="1327487" y="0"/>
                </a:lnTo>
                <a:lnTo>
                  <a:pt x="1327487" y="1352069"/>
                </a:lnTo>
                <a:lnTo>
                  <a:pt x="0" y="13520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5560779" y="2669378"/>
            <a:ext cx="4393558" cy="4804090"/>
          </a:xfrm>
          <a:custGeom>
            <a:avLst/>
            <a:gdLst/>
            <a:ahLst/>
            <a:cxnLst/>
            <a:rect r="r" b="b" t="t" l="l"/>
            <a:pathLst>
              <a:path h="4804090" w="4393558">
                <a:moveTo>
                  <a:pt x="0" y="0"/>
                </a:moveTo>
                <a:lnTo>
                  <a:pt x="4393558" y="0"/>
                </a:lnTo>
                <a:lnTo>
                  <a:pt x="4393558" y="4804089"/>
                </a:lnTo>
                <a:lnTo>
                  <a:pt x="0" y="480408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2528423" y="1503391"/>
            <a:ext cx="13591056" cy="629535"/>
          </a:xfrm>
          <a:prstGeom prst="rect">
            <a:avLst/>
          </a:prstGeom>
        </p:spPr>
        <p:txBody>
          <a:bodyPr anchor="t" rtlCol="false" tIns="0" lIns="0" bIns="0" rIns="0">
            <a:spAutoFit/>
          </a:bodyPr>
          <a:lstStyle/>
          <a:p>
            <a:pPr algn="ctr">
              <a:lnSpc>
                <a:spcPts val="4087"/>
              </a:lnSpc>
            </a:pPr>
            <a:r>
              <a:rPr lang="en-US" sz="5599">
                <a:solidFill>
                  <a:srgbClr val="FE89AA"/>
                </a:solidFill>
                <a:latin typeface="Times New Roman"/>
                <a:ea typeface="Times New Roman"/>
                <a:cs typeface="Times New Roman"/>
                <a:sym typeface="Times New Roman"/>
              </a:rPr>
              <a:t>EXPENSES TRACKER USING AL AND ML</a:t>
            </a:r>
          </a:p>
        </p:txBody>
      </p:sp>
      <p:sp>
        <p:nvSpPr>
          <p:cNvPr name="TextBox 11" id="11"/>
          <p:cNvSpPr txBox="true"/>
          <p:nvPr/>
        </p:nvSpPr>
        <p:spPr>
          <a:xfrm rot="0">
            <a:off x="14343529" y="8111947"/>
            <a:ext cx="2915771" cy="715010"/>
          </a:xfrm>
          <a:prstGeom prst="rect">
            <a:avLst/>
          </a:prstGeom>
        </p:spPr>
        <p:txBody>
          <a:bodyPr anchor="t" rtlCol="false" tIns="0" lIns="0" bIns="0" rIns="0">
            <a:spAutoFit/>
          </a:bodyPr>
          <a:lstStyle/>
          <a:p>
            <a:pPr algn="ctr">
              <a:lnSpc>
                <a:spcPts val="2860"/>
              </a:lnSpc>
            </a:pPr>
            <a:r>
              <a:rPr lang="en-US" sz="2200">
                <a:solidFill>
                  <a:srgbClr val="442900"/>
                </a:solidFill>
                <a:latin typeface="Aileron Light"/>
                <a:ea typeface="Aileron Light"/>
                <a:cs typeface="Aileron Light"/>
                <a:sym typeface="Aileron Light"/>
              </a:rPr>
              <a:t>SANTHANALAKSHMI M</a:t>
            </a:r>
          </a:p>
          <a:p>
            <a:pPr algn="ctr">
              <a:lnSpc>
                <a:spcPts val="2860"/>
              </a:lnSpc>
            </a:pPr>
            <a:r>
              <a:rPr lang="en-US" sz="2200">
                <a:solidFill>
                  <a:srgbClr val="442900"/>
                </a:solidFill>
                <a:latin typeface="Aileron Light"/>
                <a:ea typeface="Aileron Light"/>
                <a:cs typeface="Aileron Light"/>
                <a:sym typeface="Aileron Light"/>
              </a:rPr>
              <a:t>CB.AI.P2DSC25028</a:t>
            </a:r>
          </a:p>
        </p:txBody>
      </p:sp>
      <p:sp>
        <p:nvSpPr>
          <p:cNvPr name="Freeform 12" id="12"/>
          <p:cNvSpPr/>
          <p:nvPr/>
        </p:nvSpPr>
        <p:spPr>
          <a:xfrm flipH="false" flipV="false" rot="0">
            <a:off x="1263225" y="2950535"/>
            <a:ext cx="962106" cy="1255603"/>
          </a:xfrm>
          <a:custGeom>
            <a:avLst/>
            <a:gdLst/>
            <a:ahLst/>
            <a:cxnLst/>
            <a:rect r="r" b="b" t="t" l="l"/>
            <a:pathLst>
              <a:path h="1255603" w="962106">
                <a:moveTo>
                  <a:pt x="0" y="0"/>
                </a:moveTo>
                <a:lnTo>
                  <a:pt x="962106" y="0"/>
                </a:lnTo>
                <a:lnTo>
                  <a:pt x="962106" y="1255603"/>
                </a:lnTo>
                <a:lnTo>
                  <a:pt x="0" y="1255603"/>
                </a:lnTo>
                <a:lnTo>
                  <a:pt x="0" y="0"/>
                </a:lnTo>
                <a:close/>
              </a:path>
            </a:pathLst>
          </a:custGeom>
          <a:blipFill>
            <a:blip r:embed="rId2"/>
            <a:stretch>
              <a:fillRect l="0" t="0" r="0" b="0"/>
            </a:stretch>
          </a:blipFill>
        </p:spPr>
      </p:sp>
      <p:sp>
        <p:nvSpPr>
          <p:cNvPr name="TextBox 13" id="13"/>
          <p:cNvSpPr txBox="true"/>
          <p:nvPr/>
        </p:nvSpPr>
        <p:spPr>
          <a:xfrm rot="0">
            <a:off x="17678033" y="9788603"/>
            <a:ext cx="176808" cy="388620"/>
          </a:xfrm>
          <a:prstGeom prst="rect">
            <a:avLst/>
          </a:prstGeom>
        </p:spPr>
        <p:txBody>
          <a:bodyPr anchor="t" rtlCol="false" tIns="0" lIns="0" bIns="0" rIns="0">
            <a:spAutoFit/>
          </a:bodyPr>
          <a:lstStyle/>
          <a:p>
            <a:pPr algn="ctr">
              <a:lnSpc>
                <a:spcPts val="3120"/>
              </a:lnSpc>
              <a:spcBef>
                <a:spcPct val="0"/>
              </a:spcBef>
            </a:pPr>
            <a:r>
              <a:rPr lang="en-US" sz="2400">
                <a:solidFill>
                  <a:srgbClr val="000000"/>
                </a:solidFill>
                <a:latin typeface="Aileron"/>
                <a:ea typeface="Aileron"/>
                <a:cs typeface="Aileron"/>
                <a:sym typeface="Aileron"/>
              </a:rPr>
              <a:t>1</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AF9F4"/>
        </a:solidFill>
      </p:bgPr>
    </p:bg>
    <p:spTree>
      <p:nvGrpSpPr>
        <p:cNvPr id="1" name=""/>
        <p:cNvGrpSpPr/>
        <p:nvPr/>
      </p:nvGrpSpPr>
      <p:grpSpPr>
        <a:xfrm>
          <a:off x="0" y="0"/>
          <a:ext cx="0" cy="0"/>
          <a:chOff x="0" y="0"/>
          <a:chExt cx="0" cy="0"/>
        </a:xfrm>
      </p:grpSpPr>
      <p:sp>
        <p:nvSpPr>
          <p:cNvPr name="TextBox 2" id="2"/>
          <p:cNvSpPr txBox="true"/>
          <p:nvPr/>
        </p:nvSpPr>
        <p:spPr>
          <a:xfrm rot="0">
            <a:off x="475768" y="742527"/>
            <a:ext cx="8043099" cy="1307621"/>
          </a:xfrm>
          <a:prstGeom prst="rect">
            <a:avLst/>
          </a:prstGeom>
        </p:spPr>
        <p:txBody>
          <a:bodyPr anchor="t" rtlCol="false" tIns="0" lIns="0" bIns="0" rIns="0">
            <a:spAutoFit/>
          </a:bodyPr>
          <a:lstStyle/>
          <a:p>
            <a:pPr algn="l" marL="0" indent="0" lvl="0">
              <a:lnSpc>
                <a:spcPts val="4692"/>
              </a:lnSpc>
              <a:spcBef>
                <a:spcPct val="0"/>
              </a:spcBef>
            </a:pPr>
            <a:r>
              <a:rPr lang="en-US" sz="6428">
                <a:solidFill>
                  <a:srgbClr val="FE89AA"/>
                </a:solidFill>
                <a:latin typeface="Times New Roman"/>
                <a:ea typeface="Times New Roman"/>
                <a:cs typeface="Times New Roman"/>
                <a:sym typeface="Times New Roman"/>
              </a:rPr>
              <a:t>Problem Statement/Background</a:t>
            </a:r>
          </a:p>
        </p:txBody>
      </p:sp>
      <p:sp>
        <p:nvSpPr>
          <p:cNvPr name="TextBox 3" id="3"/>
          <p:cNvSpPr txBox="true"/>
          <p:nvPr/>
        </p:nvSpPr>
        <p:spPr>
          <a:xfrm rot="0">
            <a:off x="1028700" y="2369506"/>
            <a:ext cx="16643537" cy="6590666"/>
          </a:xfrm>
          <a:prstGeom prst="rect">
            <a:avLst/>
          </a:prstGeom>
        </p:spPr>
        <p:txBody>
          <a:bodyPr anchor="t" rtlCol="false" tIns="0" lIns="0" bIns="0" rIns="0">
            <a:spAutoFit/>
          </a:bodyPr>
          <a:lstStyle/>
          <a:p>
            <a:pPr algn="l" marL="734055" indent="-367027" lvl="1">
              <a:lnSpc>
                <a:spcPts val="4759"/>
              </a:lnSpc>
              <a:buFont typeface="Arial"/>
              <a:buChar char="•"/>
            </a:pPr>
            <a:r>
              <a:rPr lang="en-US" sz="3399">
                <a:solidFill>
                  <a:srgbClr val="442900"/>
                </a:solidFill>
                <a:latin typeface="Aileron"/>
                <a:ea typeface="Aileron"/>
                <a:cs typeface="Aileron"/>
                <a:sym typeface="Aileron"/>
              </a:rPr>
              <a:t>M</a:t>
            </a:r>
            <a:r>
              <a:rPr lang="en-US" sz="3399" strike="noStrike" u="none">
                <a:solidFill>
                  <a:srgbClr val="442900"/>
                </a:solidFill>
                <a:latin typeface="Aileron"/>
                <a:ea typeface="Aileron"/>
                <a:cs typeface="Aileron"/>
                <a:sym typeface="Aileron"/>
              </a:rPr>
              <a:t>anaging money has become more complicated today because people rely heavily on digital payments, subscriptions, online shopping, and multiple small transactions happening every day.</a:t>
            </a:r>
          </a:p>
          <a:p>
            <a:pPr algn="l" marL="734055" indent="-367027" lvl="1">
              <a:lnSpc>
                <a:spcPts val="4759"/>
              </a:lnSpc>
              <a:buFont typeface="Arial"/>
              <a:buChar char="•"/>
            </a:pPr>
            <a:r>
              <a:rPr lang="en-US" sz="3399" strike="noStrike" u="none">
                <a:solidFill>
                  <a:srgbClr val="442900"/>
                </a:solidFill>
                <a:latin typeface="Aileron"/>
                <a:ea typeface="Aileron"/>
                <a:cs typeface="Aileron"/>
                <a:sym typeface="Aileron"/>
              </a:rPr>
              <a:t>Most people want to control their finances, but they are too busy to manually note expenses or analyze monthly spending patterns.</a:t>
            </a:r>
          </a:p>
          <a:p>
            <a:pPr algn="l" marL="734055" indent="-367027" lvl="1">
              <a:lnSpc>
                <a:spcPts val="4759"/>
              </a:lnSpc>
              <a:buFont typeface="Arial"/>
              <a:buChar char="•"/>
            </a:pPr>
            <a:r>
              <a:rPr lang="en-US" sz="3399" strike="noStrike" u="none">
                <a:solidFill>
                  <a:srgbClr val="442900"/>
                </a:solidFill>
                <a:latin typeface="Aileron"/>
                <a:ea typeface="Aileron"/>
                <a:cs typeface="Aileron"/>
                <a:sym typeface="Aileron"/>
              </a:rPr>
              <a:t>Traditional finance apps only show past spending, but they lack future predictions like upcoming expenses, budget alerts, and spending trend insights.</a:t>
            </a:r>
          </a:p>
          <a:p>
            <a:pPr algn="l" marL="734055" indent="-367027" lvl="1">
              <a:lnSpc>
                <a:spcPts val="4759"/>
              </a:lnSpc>
              <a:buFont typeface="Arial"/>
              <a:buChar char="•"/>
            </a:pPr>
            <a:r>
              <a:rPr lang="en-US" sz="3399" strike="noStrike" u="none">
                <a:solidFill>
                  <a:srgbClr val="442900"/>
                </a:solidFill>
                <a:latin typeface="Aileron"/>
                <a:ea typeface="Aileron"/>
                <a:cs typeface="Aileron"/>
                <a:sym typeface="Aileron"/>
              </a:rPr>
              <a:t>Our project comes from the goal of making financial tracking simple, automatic, and smart. We will achieve this through data analytics, clear visualizations, and machine learning.</a:t>
            </a:r>
          </a:p>
          <a:p>
            <a:pPr algn="l">
              <a:lnSpc>
                <a:spcPts val="4759"/>
              </a:lnSpc>
            </a:pPr>
          </a:p>
        </p:txBody>
      </p:sp>
      <p:sp>
        <p:nvSpPr>
          <p:cNvPr name="TextBox 4" id="4"/>
          <p:cNvSpPr txBox="true"/>
          <p:nvPr/>
        </p:nvSpPr>
        <p:spPr>
          <a:xfrm rot="0">
            <a:off x="17678033" y="9788603"/>
            <a:ext cx="176808" cy="388620"/>
          </a:xfrm>
          <a:prstGeom prst="rect">
            <a:avLst/>
          </a:prstGeom>
        </p:spPr>
        <p:txBody>
          <a:bodyPr anchor="t" rtlCol="false" tIns="0" lIns="0" bIns="0" rIns="0">
            <a:spAutoFit/>
          </a:bodyPr>
          <a:lstStyle/>
          <a:p>
            <a:pPr algn="ctr">
              <a:lnSpc>
                <a:spcPts val="3120"/>
              </a:lnSpc>
              <a:spcBef>
                <a:spcPct val="0"/>
              </a:spcBef>
            </a:pPr>
            <a:r>
              <a:rPr lang="en-US" sz="2400">
                <a:solidFill>
                  <a:srgbClr val="000000"/>
                </a:solidFill>
                <a:latin typeface="Aileron"/>
                <a:ea typeface="Aileron"/>
                <a:cs typeface="Aileron"/>
                <a:sym typeface="Aileron"/>
              </a:rPr>
              <a:t>2</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6F1EB"/>
        </a:solidFill>
      </p:bgPr>
    </p:bg>
    <p:spTree>
      <p:nvGrpSpPr>
        <p:cNvPr id="1" name=""/>
        <p:cNvGrpSpPr/>
        <p:nvPr/>
      </p:nvGrpSpPr>
      <p:grpSpPr>
        <a:xfrm>
          <a:off x="0" y="0"/>
          <a:ext cx="0" cy="0"/>
          <a:chOff x="0" y="0"/>
          <a:chExt cx="0" cy="0"/>
        </a:xfrm>
      </p:grpSpPr>
      <p:grpSp>
        <p:nvGrpSpPr>
          <p:cNvPr name="Group 2" id="2"/>
          <p:cNvGrpSpPr/>
          <p:nvPr/>
        </p:nvGrpSpPr>
        <p:grpSpPr>
          <a:xfrm rot="0">
            <a:off x="486104" y="2625919"/>
            <a:ext cx="3906954" cy="4089012"/>
            <a:chOff x="0" y="0"/>
            <a:chExt cx="1028992" cy="1076941"/>
          </a:xfrm>
        </p:grpSpPr>
        <p:sp>
          <p:nvSpPr>
            <p:cNvPr name="Freeform 3" id="3"/>
            <p:cNvSpPr/>
            <p:nvPr/>
          </p:nvSpPr>
          <p:spPr>
            <a:xfrm flipH="false" flipV="false" rot="0">
              <a:off x="0" y="0"/>
              <a:ext cx="1028992" cy="1076941"/>
            </a:xfrm>
            <a:custGeom>
              <a:avLst/>
              <a:gdLst/>
              <a:ahLst/>
              <a:cxnLst/>
              <a:rect r="r" b="b" t="t" l="l"/>
              <a:pathLst>
                <a:path h="1076941" w="1028992">
                  <a:moveTo>
                    <a:pt x="0" y="0"/>
                  </a:moveTo>
                  <a:lnTo>
                    <a:pt x="1028992" y="0"/>
                  </a:lnTo>
                  <a:lnTo>
                    <a:pt x="1028992" y="1076941"/>
                  </a:lnTo>
                  <a:lnTo>
                    <a:pt x="0" y="1076941"/>
                  </a:lnTo>
                  <a:close/>
                </a:path>
              </a:pathLst>
            </a:custGeom>
            <a:solidFill>
              <a:srgbClr val="FAF9F4"/>
            </a:solidFill>
            <a:ln w="19050" cap="sq">
              <a:solidFill>
                <a:srgbClr val="FE89AA"/>
              </a:solidFill>
              <a:prstDash val="solid"/>
              <a:miter/>
            </a:ln>
          </p:spPr>
        </p:sp>
        <p:sp>
          <p:nvSpPr>
            <p:cNvPr name="TextBox 4" id="4"/>
            <p:cNvSpPr txBox="true"/>
            <p:nvPr/>
          </p:nvSpPr>
          <p:spPr>
            <a:xfrm>
              <a:off x="0" y="-28575"/>
              <a:ext cx="1028992" cy="1105516"/>
            </a:xfrm>
            <a:prstGeom prst="rect">
              <a:avLst/>
            </a:prstGeom>
          </p:spPr>
          <p:txBody>
            <a:bodyPr anchor="ctr" rtlCol="false" tIns="50800" lIns="50800" bIns="50800" rIns="50800"/>
            <a:lstStyle/>
            <a:p>
              <a:pPr algn="ctr">
                <a:lnSpc>
                  <a:spcPts val="3120"/>
                </a:lnSpc>
              </a:pPr>
            </a:p>
          </p:txBody>
        </p:sp>
      </p:grpSp>
      <p:grpSp>
        <p:nvGrpSpPr>
          <p:cNvPr name="Group 5" id="5"/>
          <p:cNvGrpSpPr/>
          <p:nvPr/>
        </p:nvGrpSpPr>
        <p:grpSpPr>
          <a:xfrm rot="0">
            <a:off x="9144000" y="2625919"/>
            <a:ext cx="3906954" cy="4089012"/>
            <a:chOff x="0" y="0"/>
            <a:chExt cx="1028992" cy="1076941"/>
          </a:xfrm>
        </p:grpSpPr>
        <p:sp>
          <p:nvSpPr>
            <p:cNvPr name="Freeform 6" id="6"/>
            <p:cNvSpPr/>
            <p:nvPr/>
          </p:nvSpPr>
          <p:spPr>
            <a:xfrm flipH="false" flipV="false" rot="0">
              <a:off x="0" y="0"/>
              <a:ext cx="1028992" cy="1076941"/>
            </a:xfrm>
            <a:custGeom>
              <a:avLst/>
              <a:gdLst/>
              <a:ahLst/>
              <a:cxnLst/>
              <a:rect r="r" b="b" t="t" l="l"/>
              <a:pathLst>
                <a:path h="1076941" w="1028992">
                  <a:moveTo>
                    <a:pt x="0" y="0"/>
                  </a:moveTo>
                  <a:lnTo>
                    <a:pt x="1028992" y="0"/>
                  </a:lnTo>
                  <a:lnTo>
                    <a:pt x="1028992" y="1076941"/>
                  </a:lnTo>
                  <a:lnTo>
                    <a:pt x="0" y="1076941"/>
                  </a:lnTo>
                  <a:close/>
                </a:path>
              </a:pathLst>
            </a:custGeom>
            <a:solidFill>
              <a:srgbClr val="FAF9F4"/>
            </a:solidFill>
            <a:ln w="19050" cap="sq">
              <a:solidFill>
                <a:srgbClr val="FE89AA"/>
              </a:solidFill>
              <a:prstDash val="solid"/>
              <a:miter/>
            </a:ln>
          </p:spPr>
        </p:sp>
        <p:sp>
          <p:nvSpPr>
            <p:cNvPr name="TextBox 7" id="7"/>
            <p:cNvSpPr txBox="true"/>
            <p:nvPr/>
          </p:nvSpPr>
          <p:spPr>
            <a:xfrm>
              <a:off x="0" y="-28575"/>
              <a:ext cx="1028992" cy="1105516"/>
            </a:xfrm>
            <a:prstGeom prst="rect">
              <a:avLst/>
            </a:prstGeom>
          </p:spPr>
          <p:txBody>
            <a:bodyPr anchor="ctr" rtlCol="false" tIns="50800" lIns="50800" bIns="50800" rIns="50800"/>
            <a:lstStyle/>
            <a:p>
              <a:pPr algn="ctr">
                <a:lnSpc>
                  <a:spcPts val="3120"/>
                </a:lnSpc>
              </a:pPr>
            </a:p>
          </p:txBody>
        </p:sp>
      </p:grpSp>
      <p:grpSp>
        <p:nvGrpSpPr>
          <p:cNvPr name="Group 8" id="8"/>
          <p:cNvGrpSpPr/>
          <p:nvPr/>
        </p:nvGrpSpPr>
        <p:grpSpPr>
          <a:xfrm rot="0">
            <a:off x="4795448" y="2625919"/>
            <a:ext cx="3812256" cy="4089012"/>
            <a:chOff x="0" y="0"/>
            <a:chExt cx="1004051" cy="1076941"/>
          </a:xfrm>
        </p:grpSpPr>
        <p:sp>
          <p:nvSpPr>
            <p:cNvPr name="Freeform 9" id="9"/>
            <p:cNvSpPr/>
            <p:nvPr/>
          </p:nvSpPr>
          <p:spPr>
            <a:xfrm flipH="false" flipV="false" rot="0">
              <a:off x="0" y="0"/>
              <a:ext cx="1004051" cy="1076941"/>
            </a:xfrm>
            <a:custGeom>
              <a:avLst/>
              <a:gdLst/>
              <a:ahLst/>
              <a:cxnLst/>
              <a:rect r="r" b="b" t="t" l="l"/>
              <a:pathLst>
                <a:path h="1076941" w="1004051">
                  <a:moveTo>
                    <a:pt x="0" y="0"/>
                  </a:moveTo>
                  <a:lnTo>
                    <a:pt x="1004051" y="0"/>
                  </a:lnTo>
                  <a:lnTo>
                    <a:pt x="1004051" y="1076941"/>
                  </a:lnTo>
                  <a:lnTo>
                    <a:pt x="0" y="1076941"/>
                  </a:lnTo>
                  <a:close/>
                </a:path>
              </a:pathLst>
            </a:custGeom>
            <a:solidFill>
              <a:srgbClr val="FAF9F4"/>
            </a:solidFill>
            <a:ln w="19050" cap="sq">
              <a:solidFill>
                <a:srgbClr val="FE89AA"/>
              </a:solidFill>
              <a:prstDash val="solid"/>
              <a:miter/>
            </a:ln>
          </p:spPr>
        </p:sp>
        <p:sp>
          <p:nvSpPr>
            <p:cNvPr name="TextBox 10" id="10"/>
            <p:cNvSpPr txBox="true"/>
            <p:nvPr/>
          </p:nvSpPr>
          <p:spPr>
            <a:xfrm>
              <a:off x="0" y="-28575"/>
              <a:ext cx="1004051" cy="1105516"/>
            </a:xfrm>
            <a:prstGeom prst="rect">
              <a:avLst/>
            </a:prstGeom>
          </p:spPr>
          <p:txBody>
            <a:bodyPr anchor="ctr" rtlCol="false" tIns="50800" lIns="50800" bIns="50800" rIns="50800"/>
            <a:lstStyle/>
            <a:p>
              <a:pPr algn="ctr">
                <a:lnSpc>
                  <a:spcPts val="3120"/>
                </a:lnSpc>
              </a:pPr>
            </a:p>
          </p:txBody>
        </p:sp>
      </p:grpSp>
      <p:grpSp>
        <p:nvGrpSpPr>
          <p:cNvPr name="Group 11" id="11"/>
          <p:cNvGrpSpPr/>
          <p:nvPr/>
        </p:nvGrpSpPr>
        <p:grpSpPr>
          <a:xfrm rot="0">
            <a:off x="3437528" y="3174671"/>
            <a:ext cx="614969" cy="61496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89AA"/>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marL="0" indent="0" lvl="0">
                <a:lnSpc>
                  <a:spcPts val="2600"/>
                </a:lnSpc>
                <a:spcBef>
                  <a:spcPct val="0"/>
                </a:spcBef>
              </a:pPr>
              <a:r>
                <a:rPr lang="en-US" sz="2000">
                  <a:solidFill>
                    <a:srgbClr val="FAF9F4"/>
                  </a:solidFill>
                  <a:latin typeface="Cy Grotesk Key"/>
                  <a:ea typeface="Cy Grotesk Key"/>
                  <a:cs typeface="Cy Grotesk Key"/>
                  <a:sym typeface="Cy Grotesk Key"/>
                </a:rPr>
                <a:t>0</a:t>
              </a:r>
              <a:r>
                <a:rPr lang="en-US" sz="2000" strike="noStrike" u="none">
                  <a:solidFill>
                    <a:srgbClr val="FAF9F4"/>
                  </a:solidFill>
                  <a:latin typeface="Cy Grotesk Key"/>
                  <a:ea typeface="Cy Grotesk Key"/>
                  <a:cs typeface="Cy Grotesk Key"/>
                  <a:sym typeface="Cy Grotesk Key"/>
                </a:rPr>
                <a:t>1</a:t>
              </a:r>
            </a:p>
          </p:txBody>
        </p:sp>
      </p:grpSp>
      <p:grpSp>
        <p:nvGrpSpPr>
          <p:cNvPr name="Group 14" id="14"/>
          <p:cNvGrpSpPr/>
          <p:nvPr/>
        </p:nvGrpSpPr>
        <p:grpSpPr>
          <a:xfrm rot="0">
            <a:off x="7732896" y="3189911"/>
            <a:ext cx="614969" cy="61496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89AA"/>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marL="0" indent="0" lvl="0">
                <a:lnSpc>
                  <a:spcPts val="2600"/>
                </a:lnSpc>
                <a:spcBef>
                  <a:spcPct val="0"/>
                </a:spcBef>
              </a:pPr>
              <a:r>
                <a:rPr lang="en-US" sz="2000">
                  <a:solidFill>
                    <a:srgbClr val="FAF9F4"/>
                  </a:solidFill>
                  <a:latin typeface="Cy Grotesk Key"/>
                  <a:ea typeface="Cy Grotesk Key"/>
                  <a:cs typeface="Cy Grotesk Key"/>
                  <a:sym typeface="Cy Grotesk Key"/>
                </a:rPr>
                <a:t>02</a:t>
              </a:r>
            </a:p>
          </p:txBody>
        </p:sp>
      </p:grpSp>
      <p:grpSp>
        <p:nvGrpSpPr>
          <p:cNvPr name="Group 17" id="17"/>
          <p:cNvGrpSpPr/>
          <p:nvPr/>
        </p:nvGrpSpPr>
        <p:grpSpPr>
          <a:xfrm rot="0">
            <a:off x="12224237" y="3174671"/>
            <a:ext cx="614969" cy="614969"/>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89AA"/>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marL="0" indent="0" lvl="0">
                <a:lnSpc>
                  <a:spcPts val="2600"/>
                </a:lnSpc>
                <a:spcBef>
                  <a:spcPct val="0"/>
                </a:spcBef>
              </a:pPr>
              <a:r>
                <a:rPr lang="en-US" sz="2000">
                  <a:solidFill>
                    <a:srgbClr val="FAF9F4"/>
                  </a:solidFill>
                  <a:latin typeface="Cy Grotesk Key"/>
                  <a:ea typeface="Cy Grotesk Key"/>
                  <a:cs typeface="Cy Grotesk Key"/>
                  <a:sym typeface="Cy Grotesk Key"/>
                </a:rPr>
                <a:t>03</a:t>
              </a:r>
            </a:p>
          </p:txBody>
        </p:sp>
      </p:grpSp>
      <p:sp>
        <p:nvSpPr>
          <p:cNvPr name="TextBox 20" id="20"/>
          <p:cNvSpPr txBox="true"/>
          <p:nvPr/>
        </p:nvSpPr>
        <p:spPr>
          <a:xfrm rot="0">
            <a:off x="682211" y="3213897"/>
            <a:ext cx="2915771" cy="779145"/>
          </a:xfrm>
          <a:prstGeom prst="rect">
            <a:avLst/>
          </a:prstGeom>
        </p:spPr>
        <p:txBody>
          <a:bodyPr anchor="t" rtlCol="false" tIns="0" lIns="0" bIns="0" rIns="0">
            <a:spAutoFit/>
          </a:bodyPr>
          <a:lstStyle/>
          <a:p>
            <a:pPr algn="l">
              <a:lnSpc>
                <a:spcPts val="3120"/>
              </a:lnSpc>
            </a:pPr>
            <a:r>
              <a:rPr lang="en-US" sz="2400">
                <a:solidFill>
                  <a:srgbClr val="FE89AA"/>
                </a:solidFill>
                <a:latin typeface="Aileron"/>
                <a:ea typeface="Aileron"/>
                <a:cs typeface="Aileron"/>
                <a:sym typeface="Aileron"/>
              </a:rPr>
              <a:t>smart  finance system</a:t>
            </a:r>
          </a:p>
        </p:txBody>
      </p:sp>
      <p:sp>
        <p:nvSpPr>
          <p:cNvPr name="TextBox 21" id="21"/>
          <p:cNvSpPr txBox="true"/>
          <p:nvPr/>
        </p:nvSpPr>
        <p:spPr>
          <a:xfrm rot="0">
            <a:off x="9598304" y="3146096"/>
            <a:ext cx="2111327" cy="779145"/>
          </a:xfrm>
          <a:prstGeom prst="rect">
            <a:avLst/>
          </a:prstGeom>
        </p:spPr>
        <p:txBody>
          <a:bodyPr anchor="t" rtlCol="false" tIns="0" lIns="0" bIns="0" rIns="0">
            <a:spAutoFit/>
          </a:bodyPr>
          <a:lstStyle/>
          <a:p>
            <a:pPr algn="l">
              <a:lnSpc>
                <a:spcPts val="3120"/>
              </a:lnSpc>
            </a:pPr>
            <a:r>
              <a:rPr lang="en-US" sz="2400">
                <a:solidFill>
                  <a:srgbClr val="FE89AA"/>
                </a:solidFill>
                <a:latin typeface="Aileron"/>
                <a:ea typeface="Aileron"/>
                <a:cs typeface="Aileron"/>
                <a:sym typeface="Aileron"/>
              </a:rPr>
              <a:t>user-friendly dashboard</a:t>
            </a:r>
          </a:p>
        </p:txBody>
      </p:sp>
      <p:sp>
        <p:nvSpPr>
          <p:cNvPr name="TextBox 22" id="22"/>
          <p:cNvSpPr txBox="true"/>
          <p:nvPr/>
        </p:nvSpPr>
        <p:spPr>
          <a:xfrm rot="0">
            <a:off x="5124610" y="3146096"/>
            <a:ext cx="2604502" cy="779145"/>
          </a:xfrm>
          <a:prstGeom prst="rect">
            <a:avLst/>
          </a:prstGeom>
        </p:spPr>
        <p:txBody>
          <a:bodyPr anchor="t" rtlCol="false" tIns="0" lIns="0" bIns="0" rIns="0">
            <a:spAutoFit/>
          </a:bodyPr>
          <a:lstStyle/>
          <a:p>
            <a:pPr algn="l">
              <a:lnSpc>
                <a:spcPts val="3120"/>
              </a:lnSpc>
            </a:pPr>
            <a:r>
              <a:rPr lang="en-US" sz="2400">
                <a:solidFill>
                  <a:srgbClr val="FE89AA"/>
                </a:solidFill>
                <a:latin typeface="Aileron"/>
                <a:ea typeface="Aileron"/>
                <a:cs typeface="Aileron"/>
                <a:sym typeface="Aileron"/>
              </a:rPr>
              <a:t>predict next-month expenses</a:t>
            </a:r>
          </a:p>
        </p:txBody>
      </p:sp>
      <p:sp>
        <p:nvSpPr>
          <p:cNvPr name="TextBox 23" id="23"/>
          <p:cNvSpPr txBox="true"/>
          <p:nvPr/>
        </p:nvSpPr>
        <p:spPr>
          <a:xfrm rot="0">
            <a:off x="721728" y="4318000"/>
            <a:ext cx="2511619" cy="1298575"/>
          </a:xfrm>
          <a:prstGeom prst="rect">
            <a:avLst/>
          </a:prstGeom>
        </p:spPr>
        <p:txBody>
          <a:bodyPr anchor="t" rtlCol="false" tIns="0" lIns="0" bIns="0" rIns="0">
            <a:spAutoFit/>
          </a:bodyPr>
          <a:lstStyle/>
          <a:p>
            <a:pPr algn="l">
              <a:lnSpc>
                <a:spcPts val="2600"/>
              </a:lnSpc>
            </a:pPr>
            <a:r>
              <a:rPr lang="en-US" sz="2000">
                <a:solidFill>
                  <a:srgbClr val="442900"/>
                </a:solidFill>
                <a:latin typeface="Aileron"/>
                <a:ea typeface="Aileron"/>
                <a:cs typeface="Aileron"/>
                <a:sym typeface="Aileron"/>
              </a:rPr>
              <a:t>Automated analysis of user transactions creates useful financial insights.</a:t>
            </a:r>
          </a:p>
        </p:txBody>
      </p:sp>
      <p:sp>
        <p:nvSpPr>
          <p:cNvPr name="TextBox 24" id="24"/>
          <p:cNvSpPr txBox="true"/>
          <p:nvPr/>
        </p:nvSpPr>
        <p:spPr>
          <a:xfrm rot="0">
            <a:off x="9598304" y="4318000"/>
            <a:ext cx="2625933" cy="1622425"/>
          </a:xfrm>
          <a:prstGeom prst="rect">
            <a:avLst/>
          </a:prstGeom>
        </p:spPr>
        <p:txBody>
          <a:bodyPr anchor="t" rtlCol="false" tIns="0" lIns="0" bIns="0" rIns="0">
            <a:spAutoFit/>
          </a:bodyPr>
          <a:lstStyle/>
          <a:p>
            <a:pPr algn="l">
              <a:lnSpc>
                <a:spcPts val="2600"/>
              </a:lnSpc>
            </a:pPr>
            <a:r>
              <a:rPr lang="en-US" sz="2000">
                <a:solidFill>
                  <a:srgbClr val="442900"/>
                </a:solidFill>
                <a:latin typeface="Aileron"/>
                <a:ea typeface="Aileron"/>
                <a:cs typeface="Aileron"/>
                <a:sym typeface="Aileron"/>
              </a:rPr>
              <a:t>Clear visualization shows income trends, spending patterns, and category-wise expenses. </a:t>
            </a:r>
          </a:p>
        </p:txBody>
      </p:sp>
      <p:sp>
        <p:nvSpPr>
          <p:cNvPr name="TextBox 25" id="25"/>
          <p:cNvSpPr txBox="true"/>
          <p:nvPr/>
        </p:nvSpPr>
        <p:spPr>
          <a:xfrm rot="0">
            <a:off x="5124610" y="4330700"/>
            <a:ext cx="2915771" cy="1298575"/>
          </a:xfrm>
          <a:prstGeom prst="rect">
            <a:avLst/>
          </a:prstGeom>
        </p:spPr>
        <p:txBody>
          <a:bodyPr anchor="t" rtlCol="false" tIns="0" lIns="0" bIns="0" rIns="0">
            <a:spAutoFit/>
          </a:bodyPr>
          <a:lstStyle/>
          <a:p>
            <a:pPr algn="l">
              <a:lnSpc>
                <a:spcPts val="2600"/>
              </a:lnSpc>
            </a:pPr>
            <a:r>
              <a:rPr lang="en-US" sz="2000">
                <a:solidFill>
                  <a:srgbClr val="442900"/>
                </a:solidFill>
                <a:latin typeface="Aileron"/>
                <a:ea typeface="Aileron"/>
                <a:cs typeface="Aileron"/>
                <a:sym typeface="Aileron"/>
              </a:rPr>
              <a:t>The system predicts next-month expenses using machine learning techniques. </a:t>
            </a:r>
          </a:p>
        </p:txBody>
      </p:sp>
      <p:sp>
        <p:nvSpPr>
          <p:cNvPr name="TextBox 26" id="26"/>
          <p:cNvSpPr txBox="true"/>
          <p:nvPr/>
        </p:nvSpPr>
        <p:spPr>
          <a:xfrm rot="0">
            <a:off x="721728" y="1059005"/>
            <a:ext cx="3671330" cy="797584"/>
          </a:xfrm>
          <a:prstGeom prst="rect">
            <a:avLst/>
          </a:prstGeom>
        </p:spPr>
        <p:txBody>
          <a:bodyPr anchor="t" rtlCol="false" tIns="0" lIns="0" bIns="0" rIns="0">
            <a:spAutoFit/>
          </a:bodyPr>
          <a:lstStyle/>
          <a:p>
            <a:pPr algn="l">
              <a:lnSpc>
                <a:spcPts val="5360"/>
              </a:lnSpc>
            </a:pPr>
            <a:r>
              <a:rPr lang="en-US" sz="6700">
                <a:solidFill>
                  <a:srgbClr val="FE89AA"/>
                </a:solidFill>
                <a:latin typeface="Times New Roman"/>
                <a:ea typeface="Times New Roman"/>
                <a:cs typeface="Times New Roman"/>
                <a:sym typeface="Times New Roman"/>
              </a:rPr>
              <a:t>Objective</a:t>
            </a:r>
          </a:p>
        </p:txBody>
      </p:sp>
      <p:grpSp>
        <p:nvGrpSpPr>
          <p:cNvPr name="Group 27" id="27"/>
          <p:cNvGrpSpPr/>
          <p:nvPr/>
        </p:nvGrpSpPr>
        <p:grpSpPr>
          <a:xfrm rot="0">
            <a:off x="13584354" y="2625919"/>
            <a:ext cx="3906954" cy="4089012"/>
            <a:chOff x="0" y="0"/>
            <a:chExt cx="1028992" cy="1076941"/>
          </a:xfrm>
        </p:grpSpPr>
        <p:sp>
          <p:nvSpPr>
            <p:cNvPr name="Freeform 28" id="28"/>
            <p:cNvSpPr/>
            <p:nvPr/>
          </p:nvSpPr>
          <p:spPr>
            <a:xfrm flipH="false" flipV="false" rot="0">
              <a:off x="0" y="0"/>
              <a:ext cx="1028992" cy="1076941"/>
            </a:xfrm>
            <a:custGeom>
              <a:avLst/>
              <a:gdLst/>
              <a:ahLst/>
              <a:cxnLst/>
              <a:rect r="r" b="b" t="t" l="l"/>
              <a:pathLst>
                <a:path h="1076941" w="1028992">
                  <a:moveTo>
                    <a:pt x="0" y="0"/>
                  </a:moveTo>
                  <a:lnTo>
                    <a:pt x="1028992" y="0"/>
                  </a:lnTo>
                  <a:lnTo>
                    <a:pt x="1028992" y="1076941"/>
                  </a:lnTo>
                  <a:lnTo>
                    <a:pt x="0" y="1076941"/>
                  </a:lnTo>
                  <a:close/>
                </a:path>
              </a:pathLst>
            </a:custGeom>
            <a:solidFill>
              <a:srgbClr val="FAF9F4"/>
            </a:solidFill>
            <a:ln w="19050" cap="sq">
              <a:solidFill>
                <a:srgbClr val="FE89AA"/>
              </a:solidFill>
              <a:prstDash val="solid"/>
              <a:miter/>
            </a:ln>
          </p:spPr>
        </p:sp>
        <p:sp>
          <p:nvSpPr>
            <p:cNvPr name="TextBox 29" id="29"/>
            <p:cNvSpPr txBox="true"/>
            <p:nvPr/>
          </p:nvSpPr>
          <p:spPr>
            <a:xfrm>
              <a:off x="0" y="-28575"/>
              <a:ext cx="1028992" cy="1105516"/>
            </a:xfrm>
            <a:prstGeom prst="rect">
              <a:avLst/>
            </a:prstGeom>
          </p:spPr>
          <p:txBody>
            <a:bodyPr anchor="ctr" rtlCol="false" tIns="50800" lIns="50800" bIns="50800" rIns="50800"/>
            <a:lstStyle/>
            <a:p>
              <a:pPr algn="ctr">
                <a:lnSpc>
                  <a:spcPts val="3120"/>
                </a:lnSpc>
              </a:pPr>
            </a:p>
          </p:txBody>
        </p:sp>
      </p:grpSp>
      <p:sp>
        <p:nvSpPr>
          <p:cNvPr name="TextBox 30" id="30"/>
          <p:cNvSpPr txBox="true"/>
          <p:nvPr/>
        </p:nvSpPr>
        <p:spPr>
          <a:xfrm rot="0">
            <a:off x="13936779" y="3093536"/>
            <a:ext cx="2111327" cy="779145"/>
          </a:xfrm>
          <a:prstGeom prst="rect">
            <a:avLst/>
          </a:prstGeom>
        </p:spPr>
        <p:txBody>
          <a:bodyPr anchor="t" rtlCol="false" tIns="0" lIns="0" bIns="0" rIns="0">
            <a:spAutoFit/>
          </a:bodyPr>
          <a:lstStyle/>
          <a:p>
            <a:pPr algn="l">
              <a:lnSpc>
                <a:spcPts val="3120"/>
              </a:lnSpc>
            </a:pPr>
            <a:r>
              <a:rPr lang="en-US" sz="2400">
                <a:solidFill>
                  <a:srgbClr val="FE89AA"/>
                </a:solidFill>
                <a:latin typeface="Aileron"/>
                <a:ea typeface="Aileron"/>
                <a:cs typeface="Aileron"/>
                <a:sym typeface="Aileron"/>
              </a:rPr>
              <a:t>AI chatbot assistant</a:t>
            </a:r>
          </a:p>
        </p:txBody>
      </p:sp>
      <p:sp>
        <p:nvSpPr>
          <p:cNvPr name="TextBox 31" id="31"/>
          <p:cNvSpPr txBox="true"/>
          <p:nvPr/>
        </p:nvSpPr>
        <p:spPr>
          <a:xfrm rot="0">
            <a:off x="13936779" y="4330700"/>
            <a:ext cx="2625933" cy="1622425"/>
          </a:xfrm>
          <a:prstGeom prst="rect">
            <a:avLst/>
          </a:prstGeom>
        </p:spPr>
        <p:txBody>
          <a:bodyPr anchor="t" rtlCol="false" tIns="0" lIns="0" bIns="0" rIns="0">
            <a:spAutoFit/>
          </a:bodyPr>
          <a:lstStyle/>
          <a:p>
            <a:pPr algn="l">
              <a:lnSpc>
                <a:spcPts val="2600"/>
              </a:lnSpc>
            </a:pPr>
            <a:r>
              <a:rPr lang="en-US" sz="2000">
                <a:solidFill>
                  <a:srgbClr val="442900"/>
                </a:solidFill>
                <a:latin typeface="Aileron"/>
                <a:ea typeface="Aileron"/>
                <a:cs typeface="Aileron"/>
                <a:sym typeface="Aileron"/>
              </a:rPr>
              <a:t>Personalized financial help from an integrated AI chatbot improves decision-making.</a:t>
            </a:r>
          </a:p>
        </p:txBody>
      </p:sp>
      <p:grpSp>
        <p:nvGrpSpPr>
          <p:cNvPr name="Group 32" id="32"/>
          <p:cNvGrpSpPr/>
          <p:nvPr/>
        </p:nvGrpSpPr>
        <p:grpSpPr>
          <a:xfrm rot="0">
            <a:off x="16562456" y="3242472"/>
            <a:ext cx="614969" cy="614969"/>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89AA"/>
            </a:solidFill>
          </p:spPr>
        </p:sp>
        <p:sp>
          <p:nvSpPr>
            <p:cNvPr name="TextBox 34" id="3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00"/>
                </a:lnSpc>
                <a:spcBef>
                  <a:spcPct val="0"/>
                </a:spcBef>
              </a:pPr>
              <a:r>
                <a:rPr lang="en-US" sz="2000">
                  <a:solidFill>
                    <a:srgbClr val="FAF9F4"/>
                  </a:solidFill>
                  <a:latin typeface="Cy Grotesk Key"/>
                  <a:ea typeface="Cy Grotesk Key"/>
                  <a:cs typeface="Cy Grotesk Key"/>
                  <a:sym typeface="Cy Grotesk Key"/>
                </a:rPr>
                <a:t>04</a:t>
              </a:r>
            </a:p>
          </p:txBody>
        </p:sp>
      </p:grpSp>
      <p:sp>
        <p:nvSpPr>
          <p:cNvPr name="TextBox 35" id="35"/>
          <p:cNvSpPr txBox="true"/>
          <p:nvPr/>
        </p:nvSpPr>
        <p:spPr>
          <a:xfrm rot="0">
            <a:off x="2351823" y="7709410"/>
            <a:ext cx="13584354" cy="522605"/>
          </a:xfrm>
          <a:prstGeom prst="rect">
            <a:avLst/>
          </a:prstGeom>
        </p:spPr>
        <p:txBody>
          <a:bodyPr anchor="t" rtlCol="false" tIns="0" lIns="0" bIns="0" rIns="0">
            <a:spAutoFit/>
          </a:bodyPr>
          <a:lstStyle/>
          <a:p>
            <a:pPr algn="ctr">
              <a:lnSpc>
                <a:spcPts val="4029"/>
              </a:lnSpc>
              <a:spcBef>
                <a:spcPct val="0"/>
              </a:spcBef>
            </a:pPr>
            <a:r>
              <a:rPr lang="en-US" sz="3099">
                <a:solidFill>
                  <a:srgbClr val="442900"/>
                </a:solidFill>
                <a:latin typeface="Times New Roman"/>
                <a:ea typeface="Times New Roman"/>
                <a:cs typeface="Times New Roman"/>
                <a:sym typeface="Times New Roman"/>
              </a:rPr>
              <a:t>Where is my money going, and h</a:t>
            </a:r>
            <a:r>
              <a:rPr lang="en-US" sz="3099">
                <a:solidFill>
                  <a:srgbClr val="442900"/>
                </a:solidFill>
                <a:latin typeface="Times New Roman"/>
                <a:ea typeface="Times New Roman"/>
                <a:cs typeface="Times New Roman"/>
                <a:sym typeface="Times New Roman"/>
              </a:rPr>
              <a:t>ow can I manage it better?</a:t>
            </a:r>
          </a:p>
        </p:txBody>
      </p:sp>
      <p:sp>
        <p:nvSpPr>
          <p:cNvPr name="TextBox 36" id="36"/>
          <p:cNvSpPr txBox="true"/>
          <p:nvPr/>
        </p:nvSpPr>
        <p:spPr>
          <a:xfrm rot="0">
            <a:off x="17678033" y="9788603"/>
            <a:ext cx="176808" cy="388620"/>
          </a:xfrm>
          <a:prstGeom prst="rect">
            <a:avLst/>
          </a:prstGeom>
        </p:spPr>
        <p:txBody>
          <a:bodyPr anchor="t" rtlCol="false" tIns="0" lIns="0" bIns="0" rIns="0">
            <a:spAutoFit/>
          </a:bodyPr>
          <a:lstStyle/>
          <a:p>
            <a:pPr algn="ctr">
              <a:lnSpc>
                <a:spcPts val="3120"/>
              </a:lnSpc>
              <a:spcBef>
                <a:spcPct val="0"/>
              </a:spcBef>
            </a:pPr>
            <a:r>
              <a:rPr lang="en-US" sz="2400">
                <a:solidFill>
                  <a:srgbClr val="000000"/>
                </a:solidFill>
                <a:latin typeface="Aileron"/>
                <a:ea typeface="Aileron"/>
                <a:cs typeface="Aileron"/>
                <a:sym typeface="Aileron"/>
              </a:rPr>
              <a:t>3</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6F1EB"/>
        </a:solidFill>
      </p:bgPr>
    </p:bg>
    <p:spTree>
      <p:nvGrpSpPr>
        <p:cNvPr id="1" name=""/>
        <p:cNvGrpSpPr/>
        <p:nvPr/>
      </p:nvGrpSpPr>
      <p:grpSpPr>
        <a:xfrm>
          <a:off x="0" y="0"/>
          <a:ext cx="0" cy="0"/>
          <a:chOff x="0" y="0"/>
          <a:chExt cx="0" cy="0"/>
        </a:xfrm>
      </p:grpSpPr>
      <p:sp>
        <p:nvSpPr>
          <p:cNvPr name="TextBox 2" id="2"/>
          <p:cNvSpPr txBox="true"/>
          <p:nvPr/>
        </p:nvSpPr>
        <p:spPr>
          <a:xfrm rot="0">
            <a:off x="780568" y="1047327"/>
            <a:ext cx="8043099" cy="717071"/>
          </a:xfrm>
          <a:prstGeom prst="rect">
            <a:avLst/>
          </a:prstGeom>
        </p:spPr>
        <p:txBody>
          <a:bodyPr anchor="t" rtlCol="false" tIns="0" lIns="0" bIns="0" rIns="0">
            <a:spAutoFit/>
          </a:bodyPr>
          <a:lstStyle/>
          <a:p>
            <a:pPr algn="l" marL="0" indent="0" lvl="0">
              <a:lnSpc>
                <a:spcPts val="4692"/>
              </a:lnSpc>
              <a:spcBef>
                <a:spcPct val="0"/>
              </a:spcBef>
            </a:pPr>
            <a:r>
              <a:rPr lang="en-US" sz="6428">
                <a:solidFill>
                  <a:srgbClr val="FE89AA"/>
                </a:solidFill>
                <a:latin typeface="Times New Roman"/>
                <a:ea typeface="Times New Roman"/>
                <a:cs typeface="Times New Roman"/>
                <a:sym typeface="Times New Roman"/>
              </a:rPr>
              <a:t>Literature Review</a:t>
            </a:r>
          </a:p>
        </p:txBody>
      </p:sp>
      <p:sp>
        <p:nvSpPr>
          <p:cNvPr name="TextBox 3" id="3"/>
          <p:cNvSpPr txBox="true"/>
          <p:nvPr/>
        </p:nvSpPr>
        <p:spPr>
          <a:xfrm rot="0">
            <a:off x="822231" y="1707248"/>
            <a:ext cx="16643537" cy="8122285"/>
          </a:xfrm>
          <a:prstGeom prst="rect">
            <a:avLst/>
          </a:prstGeom>
        </p:spPr>
        <p:txBody>
          <a:bodyPr anchor="t" rtlCol="false" tIns="0" lIns="0" bIns="0" rIns="0">
            <a:spAutoFit/>
          </a:bodyPr>
          <a:lstStyle/>
          <a:p>
            <a:pPr algn="l">
              <a:lnSpc>
                <a:spcPts val="4339"/>
              </a:lnSpc>
            </a:pPr>
            <a:r>
              <a:rPr lang="en-US" sz="3099">
                <a:solidFill>
                  <a:srgbClr val="442900"/>
                </a:solidFill>
                <a:latin typeface="Aileron"/>
                <a:ea typeface="Aileron"/>
                <a:cs typeface="Aileron"/>
                <a:sym typeface="Aileron"/>
              </a:rPr>
              <a:t>M</a:t>
            </a:r>
            <a:r>
              <a:rPr lang="en-US" sz="3099" strike="noStrike" u="none">
                <a:solidFill>
                  <a:srgbClr val="442900"/>
                </a:solidFill>
                <a:latin typeface="Aileron"/>
                <a:ea typeface="Aileron"/>
                <a:cs typeface="Aileron"/>
                <a:sym typeface="Aileron"/>
              </a:rPr>
              <a:t>anual Expense Tracking</a:t>
            </a:r>
          </a:p>
          <a:p>
            <a:pPr algn="l" marL="669286" indent="-334643" lvl="1">
              <a:lnSpc>
                <a:spcPts val="4339"/>
              </a:lnSpc>
              <a:buFont typeface="Arial"/>
              <a:buChar char="•"/>
            </a:pPr>
            <a:r>
              <a:rPr lang="en-US" sz="3099" strike="noStrike" u="none">
                <a:solidFill>
                  <a:srgbClr val="442900"/>
                </a:solidFill>
                <a:latin typeface="Aileron"/>
                <a:ea typeface="Aileron"/>
                <a:cs typeface="Aileron"/>
                <a:sym typeface="Aileron"/>
              </a:rPr>
              <a:t>Users enter expenses manually in notebooks, Excel sheets, or simple mobile apps.</a:t>
            </a:r>
          </a:p>
          <a:p>
            <a:pPr algn="l" marL="669286" indent="-334643" lvl="1">
              <a:lnSpc>
                <a:spcPts val="4339"/>
              </a:lnSpc>
              <a:buFont typeface="Arial"/>
              <a:buChar char="•"/>
            </a:pPr>
            <a:r>
              <a:rPr lang="en-US" sz="3099" strike="noStrike" u="none">
                <a:solidFill>
                  <a:srgbClr val="442900"/>
                </a:solidFill>
                <a:latin typeface="Aileron"/>
                <a:ea typeface="Aileron"/>
                <a:cs typeface="Aileron"/>
                <a:sym typeface="Aileron"/>
              </a:rPr>
              <a:t>No automation, no categorization based on SMS/email, and no forecasting.</a:t>
            </a:r>
          </a:p>
          <a:p>
            <a:pPr algn="l">
              <a:lnSpc>
                <a:spcPts val="4339"/>
              </a:lnSpc>
            </a:pPr>
            <a:r>
              <a:rPr lang="en-US" sz="3099" strike="noStrike" u="none">
                <a:solidFill>
                  <a:srgbClr val="442900"/>
                </a:solidFill>
                <a:latin typeface="Aileron"/>
                <a:ea typeface="Aileron"/>
                <a:cs typeface="Aileron"/>
                <a:sym typeface="Aileron"/>
              </a:rPr>
              <a:t>No Predictive Analytics</a:t>
            </a:r>
          </a:p>
          <a:p>
            <a:pPr algn="l" marL="669286" indent="-334643" lvl="1">
              <a:lnSpc>
                <a:spcPts val="4339"/>
              </a:lnSpc>
              <a:buFont typeface="Arial"/>
              <a:buChar char="•"/>
            </a:pPr>
            <a:r>
              <a:rPr lang="en-US" sz="3099" strike="noStrike" u="none">
                <a:solidFill>
                  <a:srgbClr val="442900"/>
                </a:solidFill>
                <a:latin typeface="Aileron"/>
                <a:ea typeface="Aileron"/>
                <a:cs typeface="Aileron"/>
                <a:sym typeface="Aileron"/>
              </a:rPr>
              <a:t>Traditional systems only display past expenses and lack any ability to forecast future spending, predict overspending, assess financial risk, or provide personalized financial recommendations.</a:t>
            </a:r>
          </a:p>
          <a:p>
            <a:pPr algn="l">
              <a:lnSpc>
                <a:spcPts val="4339"/>
              </a:lnSpc>
            </a:pPr>
            <a:r>
              <a:rPr lang="en-US" sz="3099" strike="noStrike" u="none">
                <a:solidFill>
                  <a:srgbClr val="442900"/>
                </a:solidFill>
                <a:latin typeface="Aileron"/>
                <a:ea typeface="Aileron"/>
                <a:cs typeface="Aileron"/>
                <a:sym typeface="Aileron"/>
              </a:rPr>
              <a:t>Lack of Intelligent Predictive Models </a:t>
            </a:r>
          </a:p>
          <a:p>
            <a:pPr algn="l" marL="669286" indent="-334643" lvl="1">
              <a:lnSpc>
                <a:spcPts val="4339"/>
              </a:lnSpc>
              <a:buFont typeface="Arial"/>
              <a:buChar char="•"/>
            </a:pPr>
            <a:r>
              <a:rPr lang="en-US" sz="3099" strike="noStrike" u="none">
                <a:solidFill>
                  <a:srgbClr val="442900"/>
                </a:solidFill>
                <a:latin typeface="Aileron"/>
                <a:ea typeface="Aileron"/>
                <a:cs typeface="Aileron"/>
                <a:sym typeface="Aileron"/>
              </a:rPr>
              <a:t>Existing systems lack intelligent ML/DL predictive models, so they fail to detect key financial patterns like monthly trends, seasonal peaks, user-specific habits, and natural spending cycles.</a:t>
            </a:r>
          </a:p>
          <a:p>
            <a:pPr algn="l">
              <a:lnSpc>
                <a:spcPts val="4339"/>
              </a:lnSpc>
            </a:pPr>
            <a:r>
              <a:rPr lang="en-US" sz="3099" strike="noStrike" u="none">
                <a:solidFill>
                  <a:srgbClr val="442900"/>
                </a:solidFill>
                <a:latin typeface="Aileron"/>
                <a:ea typeface="Aileron"/>
                <a:cs typeface="Aileron"/>
                <a:sym typeface="Aileron"/>
              </a:rPr>
              <a:t>No Personalized Financial or Insurance Recommendations</a:t>
            </a:r>
          </a:p>
          <a:p>
            <a:pPr algn="l" marL="669286" indent="-334643" lvl="1">
              <a:lnSpc>
                <a:spcPts val="4339"/>
              </a:lnSpc>
              <a:buFont typeface="Arial"/>
              <a:buChar char="•"/>
            </a:pPr>
            <a:r>
              <a:rPr lang="en-US" sz="3099" strike="noStrike" u="none">
                <a:solidFill>
                  <a:srgbClr val="442900"/>
                </a:solidFill>
                <a:latin typeface="Aileron"/>
                <a:ea typeface="Aileron"/>
                <a:cs typeface="Aileron"/>
                <a:sym typeface="Aileron"/>
              </a:rPr>
              <a:t>Existing systems lack intelligent ML/DL predictive models, so they fail to detect key financial patterns like monthly trends, seasonal peaks, user-specific habits, and natural spending cycles.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grpSp>
        <p:nvGrpSpPr>
          <p:cNvPr name="Group 2" id="2"/>
          <p:cNvGrpSpPr/>
          <p:nvPr/>
        </p:nvGrpSpPr>
        <p:grpSpPr>
          <a:xfrm rot="0">
            <a:off x="8696436" y="3890667"/>
            <a:ext cx="8562864" cy="2510226"/>
            <a:chOff x="0" y="0"/>
            <a:chExt cx="2165554" cy="634838"/>
          </a:xfrm>
        </p:grpSpPr>
        <p:sp>
          <p:nvSpPr>
            <p:cNvPr name="Freeform 3" id="3"/>
            <p:cNvSpPr/>
            <p:nvPr/>
          </p:nvSpPr>
          <p:spPr>
            <a:xfrm flipH="false" flipV="false" rot="0">
              <a:off x="0" y="0"/>
              <a:ext cx="2165554" cy="634838"/>
            </a:xfrm>
            <a:custGeom>
              <a:avLst/>
              <a:gdLst/>
              <a:ahLst/>
              <a:cxnLst/>
              <a:rect r="r" b="b" t="t" l="l"/>
              <a:pathLst>
                <a:path h="634838" w="2165554">
                  <a:moveTo>
                    <a:pt x="0" y="0"/>
                  </a:moveTo>
                  <a:lnTo>
                    <a:pt x="2165554" y="0"/>
                  </a:lnTo>
                  <a:lnTo>
                    <a:pt x="2165554" y="634838"/>
                  </a:lnTo>
                  <a:lnTo>
                    <a:pt x="0" y="634838"/>
                  </a:lnTo>
                  <a:close/>
                </a:path>
              </a:pathLst>
            </a:custGeom>
            <a:solidFill>
              <a:srgbClr val="FAF9F4"/>
            </a:solidFill>
          </p:spPr>
        </p:sp>
        <p:sp>
          <p:nvSpPr>
            <p:cNvPr name="TextBox 4" id="4"/>
            <p:cNvSpPr txBox="true"/>
            <p:nvPr/>
          </p:nvSpPr>
          <p:spPr>
            <a:xfrm>
              <a:off x="0" y="-28575"/>
              <a:ext cx="2165554" cy="663413"/>
            </a:xfrm>
            <a:prstGeom prst="rect">
              <a:avLst/>
            </a:prstGeom>
          </p:spPr>
          <p:txBody>
            <a:bodyPr anchor="ctr" rtlCol="false" tIns="50800" lIns="50800" bIns="50800" rIns="50800"/>
            <a:lstStyle/>
            <a:p>
              <a:pPr algn="ctr">
                <a:lnSpc>
                  <a:spcPts val="3120"/>
                </a:lnSpc>
              </a:pPr>
            </a:p>
          </p:txBody>
        </p:sp>
      </p:grpSp>
      <p:sp>
        <p:nvSpPr>
          <p:cNvPr name="Freeform 5" id="5"/>
          <p:cNvSpPr/>
          <p:nvPr/>
        </p:nvSpPr>
        <p:spPr>
          <a:xfrm flipH="false" flipV="false" rot="0">
            <a:off x="9487347" y="7568416"/>
            <a:ext cx="869542" cy="869542"/>
          </a:xfrm>
          <a:custGeom>
            <a:avLst/>
            <a:gdLst/>
            <a:ahLst/>
            <a:cxnLst/>
            <a:rect r="r" b="b" t="t" l="l"/>
            <a:pathLst>
              <a:path h="869542" w="869542">
                <a:moveTo>
                  <a:pt x="0" y="0"/>
                </a:moveTo>
                <a:lnTo>
                  <a:pt x="869541" y="0"/>
                </a:lnTo>
                <a:lnTo>
                  <a:pt x="869541" y="869542"/>
                </a:lnTo>
                <a:lnTo>
                  <a:pt x="0" y="8695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477822" y="4711009"/>
            <a:ext cx="869542" cy="869542"/>
          </a:xfrm>
          <a:custGeom>
            <a:avLst/>
            <a:gdLst/>
            <a:ahLst/>
            <a:cxnLst/>
            <a:rect r="r" b="b" t="t" l="l"/>
            <a:pathLst>
              <a:path h="869542" w="869542">
                <a:moveTo>
                  <a:pt x="0" y="0"/>
                </a:moveTo>
                <a:lnTo>
                  <a:pt x="869541" y="0"/>
                </a:lnTo>
                <a:lnTo>
                  <a:pt x="869541" y="869541"/>
                </a:lnTo>
                <a:lnTo>
                  <a:pt x="0" y="8695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704673" y="2716520"/>
            <a:ext cx="8139788" cy="5286667"/>
          </a:xfrm>
          <a:custGeom>
            <a:avLst/>
            <a:gdLst/>
            <a:ahLst/>
            <a:cxnLst/>
            <a:rect r="r" b="b" t="t" l="l"/>
            <a:pathLst>
              <a:path h="5286667" w="8139788">
                <a:moveTo>
                  <a:pt x="0" y="0"/>
                </a:moveTo>
                <a:lnTo>
                  <a:pt x="8139789" y="0"/>
                </a:lnTo>
                <a:lnTo>
                  <a:pt x="8139789" y="5286667"/>
                </a:lnTo>
                <a:lnTo>
                  <a:pt x="0" y="5286667"/>
                </a:lnTo>
                <a:lnTo>
                  <a:pt x="0" y="0"/>
                </a:lnTo>
                <a:close/>
              </a:path>
            </a:pathLst>
          </a:custGeom>
          <a:blipFill>
            <a:blip r:embed="rId6"/>
            <a:stretch>
              <a:fillRect l="0" t="0" r="0" b="0"/>
            </a:stretch>
          </a:blipFill>
        </p:spPr>
      </p:sp>
      <p:sp>
        <p:nvSpPr>
          <p:cNvPr name="TextBox 8" id="8"/>
          <p:cNvSpPr txBox="true"/>
          <p:nvPr/>
        </p:nvSpPr>
        <p:spPr>
          <a:xfrm rot="0">
            <a:off x="628168" y="894927"/>
            <a:ext cx="8043099" cy="717071"/>
          </a:xfrm>
          <a:prstGeom prst="rect">
            <a:avLst/>
          </a:prstGeom>
        </p:spPr>
        <p:txBody>
          <a:bodyPr anchor="t" rtlCol="false" tIns="0" lIns="0" bIns="0" rIns="0">
            <a:spAutoFit/>
          </a:bodyPr>
          <a:lstStyle/>
          <a:p>
            <a:pPr algn="l" marL="0" indent="0" lvl="0">
              <a:lnSpc>
                <a:spcPts val="4692"/>
              </a:lnSpc>
              <a:spcBef>
                <a:spcPct val="0"/>
              </a:spcBef>
            </a:pPr>
            <a:r>
              <a:rPr lang="en-US" sz="6428">
                <a:solidFill>
                  <a:srgbClr val="FE89AA"/>
                </a:solidFill>
                <a:latin typeface="Times New Roman"/>
                <a:ea typeface="Times New Roman"/>
                <a:cs typeface="Times New Roman"/>
                <a:sym typeface="Times New Roman"/>
              </a:rPr>
              <a:t>Proposed System</a:t>
            </a:r>
          </a:p>
        </p:txBody>
      </p:sp>
      <p:sp>
        <p:nvSpPr>
          <p:cNvPr name="TextBox 9" id="9"/>
          <p:cNvSpPr txBox="true"/>
          <p:nvPr/>
        </p:nvSpPr>
        <p:spPr>
          <a:xfrm rot="0">
            <a:off x="693575" y="1715770"/>
            <a:ext cx="9672838" cy="8066405"/>
          </a:xfrm>
          <a:prstGeom prst="rect">
            <a:avLst/>
          </a:prstGeom>
        </p:spPr>
        <p:txBody>
          <a:bodyPr anchor="t" rtlCol="false" tIns="0" lIns="0" bIns="0" rIns="0">
            <a:spAutoFit/>
          </a:bodyPr>
          <a:lstStyle/>
          <a:p>
            <a:pPr algn="l">
              <a:lnSpc>
                <a:spcPts val="4029"/>
              </a:lnSpc>
              <a:spcBef>
                <a:spcPct val="0"/>
              </a:spcBef>
            </a:pPr>
            <a:r>
              <a:rPr lang="en-US" sz="3099">
                <a:solidFill>
                  <a:srgbClr val="442900"/>
                </a:solidFill>
                <a:latin typeface="Aileron"/>
                <a:ea typeface="Aileron"/>
                <a:cs typeface="Aileron"/>
                <a:sym typeface="Aileron"/>
              </a:rPr>
              <a:t>User Interacti</a:t>
            </a:r>
            <a:r>
              <a:rPr lang="en-US" sz="3099">
                <a:solidFill>
                  <a:srgbClr val="442900"/>
                </a:solidFill>
                <a:latin typeface="Aileron"/>
                <a:ea typeface="Aileron"/>
                <a:cs typeface="Aileron"/>
                <a:sym typeface="Aileron"/>
              </a:rPr>
              <a:t>on &amp; Data Input:</a:t>
            </a:r>
          </a:p>
          <a:p>
            <a:pPr algn="l" marL="669286" indent="-334643" lvl="1">
              <a:lnSpc>
                <a:spcPts val="4029"/>
              </a:lnSpc>
              <a:buFont typeface="Arial"/>
              <a:buChar char="•"/>
            </a:pPr>
            <a:r>
              <a:rPr lang="en-US" sz="3099">
                <a:solidFill>
                  <a:srgbClr val="442900"/>
                </a:solidFill>
                <a:latin typeface="Aileron"/>
                <a:ea typeface="Aileron"/>
                <a:cs typeface="Aileron"/>
                <a:sym typeface="Aileron"/>
              </a:rPr>
              <a:t>Users provide salary and transaction details </a:t>
            </a:r>
          </a:p>
          <a:p>
            <a:pPr algn="l" marL="669286" indent="-334643" lvl="1">
              <a:lnSpc>
                <a:spcPts val="4029"/>
              </a:lnSpc>
              <a:spcBef>
                <a:spcPct val="0"/>
              </a:spcBef>
              <a:buFont typeface="Arial"/>
              <a:buChar char="•"/>
            </a:pPr>
            <a:r>
              <a:rPr lang="en-US" sz="3099">
                <a:solidFill>
                  <a:srgbClr val="442900"/>
                </a:solidFill>
                <a:latin typeface="Aileron"/>
                <a:ea typeface="Aileron"/>
                <a:cs typeface="Aileron"/>
                <a:sym typeface="Aileron"/>
              </a:rPr>
              <a:t>Data is collected and prepares them for ML analysis.</a:t>
            </a:r>
          </a:p>
          <a:p>
            <a:pPr algn="l">
              <a:lnSpc>
                <a:spcPts val="4029"/>
              </a:lnSpc>
              <a:spcBef>
                <a:spcPct val="0"/>
              </a:spcBef>
            </a:pPr>
            <a:r>
              <a:rPr lang="en-US" sz="3099">
                <a:solidFill>
                  <a:srgbClr val="442900"/>
                </a:solidFill>
                <a:latin typeface="Aileron"/>
                <a:ea typeface="Aileron"/>
                <a:cs typeface="Aileron"/>
                <a:sym typeface="Aileron"/>
              </a:rPr>
              <a:t>Machine Learning-Based Prediction:</a:t>
            </a:r>
          </a:p>
          <a:p>
            <a:pPr algn="l" marL="669286" indent="-334643" lvl="1">
              <a:lnSpc>
                <a:spcPts val="4029"/>
              </a:lnSpc>
              <a:buFont typeface="Arial"/>
              <a:buChar char="•"/>
            </a:pPr>
            <a:r>
              <a:rPr lang="en-US" sz="3099">
                <a:solidFill>
                  <a:srgbClr val="442900"/>
                </a:solidFill>
                <a:latin typeface="Aileron"/>
                <a:ea typeface="Aileron"/>
                <a:cs typeface="Aileron"/>
                <a:sym typeface="Aileron"/>
              </a:rPr>
              <a:t>ML mod</a:t>
            </a:r>
            <a:r>
              <a:rPr lang="en-US" sz="3099">
                <a:solidFill>
                  <a:srgbClr val="442900"/>
                </a:solidFill>
                <a:latin typeface="Aileron"/>
                <a:ea typeface="Aileron"/>
                <a:cs typeface="Aileron"/>
                <a:sym typeface="Aileron"/>
              </a:rPr>
              <a:t>els such as Random Forest,and SVR are used to learn user spending behavior.</a:t>
            </a:r>
          </a:p>
          <a:p>
            <a:pPr algn="l" marL="669286" indent="-334643" lvl="1">
              <a:lnSpc>
                <a:spcPts val="4029"/>
              </a:lnSpc>
              <a:spcBef>
                <a:spcPct val="0"/>
              </a:spcBef>
              <a:buFont typeface="Arial"/>
              <a:buChar char="•"/>
            </a:pPr>
            <a:r>
              <a:rPr lang="en-US" sz="3099">
                <a:solidFill>
                  <a:srgbClr val="442900"/>
                </a:solidFill>
                <a:latin typeface="Aileron"/>
                <a:ea typeface="Aileron"/>
                <a:cs typeface="Aileron"/>
                <a:sym typeface="Aileron"/>
              </a:rPr>
              <a:t>The model predicts next month’s total expenses, category-wise spending, and budget overspending based on the user’s spending habits.</a:t>
            </a:r>
          </a:p>
          <a:p>
            <a:pPr algn="l">
              <a:lnSpc>
                <a:spcPts val="4029"/>
              </a:lnSpc>
              <a:spcBef>
                <a:spcPct val="0"/>
              </a:spcBef>
            </a:pPr>
            <a:r>
              <a:rPr lang="en-US" sz="3099">
                <a:solidFill>
                  <a:srgbClr val="442900"/>
                </a:solidFill>
                <a:latin typeface="Aileron"/>
                <a:ea typeface="Aileron"/>
                <a:cs typeface="Aileron"/>
                <a:sym typeface="Aileron"/>
              </a:rPr>
              <a:t>Pers</a:t>
            </a:r>
            <a:r>
              <a:rPr lang="en-US" sz="3099">
                <a:solidFill>
                  <a:srgbClr val="442900"/>
                </a:solidFill>
                <a:latin typeface="Aileron"/>
                <a:ea typeface="Aileron"/>
                <a:cs typeface="Aileron"/>
                <a:sym typeface="Aileron"/>
              </a:rPr>
              <a:t>onalized Spending Insights:</a:t>
            </a:r>
          </a:p>
          <a:p>
            <a:pPr algn="l" marL="669286" indent="-334643" lvl="1">
              <a:lnSpc>
                <a:spcPts val="4029"/>
              </a:lnSpc>
              <a:spcBef>
                <a:spcPct val="0"/>
              </a:spcBef>
              <a:buFont typeface="Arial"/>
              <a:buChar char="•"/>
            </a:pPr>
            <a:r>
              <a:rPr lang="en-US" sz="3099">
                <a:solidFill>
                  <a:srgbClr val="442900"/>
                </a:solidFill>
                <a:latin typeface="Aileron"/>
                <a:ea typeface="Aileron"/>
                <a:cs typeface="Aileron"/>
                <a:sym typeface="Aileron"/>
              </a:rPr>
              <a:t>P</a:t>
            </a:r>
            <a:r>
              <a:rPr lang="en-US" sz="3099">
                <a:solidFill>
                  <a:srgbClr val="442900"/>
                </a:solidFill>
                <a:latin typeface="Aileron"/>
                <a:ea typeface="Aileron"/>
                <a:cs typeface="Aileron"/>
                <a:sym typeface="Aileron"/>
              </a:rPr>
              <a:t>rovides personalized spending insights </a:t>
            </a:r>
            <a:r>
              <a:rPr lang="en-US" sz="3099">
                <a:solidFill>
                  <a:srgbClr val="442900"/>
                </a:solidFill>
                <a:latin typeface="Aileron"/>
                <a:ea typeface="Aileron"/>
                <a:cs typeface="Aileron"/>
                <a:sym typeface="Aileron"/>
              </a:rPr>
              <a:t>through a centralized dashboard that visualizes savings, borrowings, lending details, saving goals, and category-wise expenses and income.</a:t>
            </a:r>
          </a:p>
          <a:p>
            <a:pPr algn="ctr">
              <a:lnSpc>
                <a:spcPts val="4029"/>
              </a:lnSpc>
              <a:spcBef>
                <a:spcPct val="0"/>
              </a:spcBef>
            </a:pPr>
          </a:p>
        </p:txBody>
      </p:sp>
      <p:sp>
        <p:nvSpPr>
          <p:cNvPr name="TextBox 10" id="10"/>
          <p:cNvSpPr txBox="true"/>
          <p:nvPr/>
        </p:nvSpPr>
        <p:spPr>
          <a:xfrm rot="0">
            <a:off x="17678033" y="9788603"/>
            <a:ext cx="176808" cy="388620"/>
          </a:xfrm>
          <a:prstGeom prst="rect">
            <a:avLst/>
          </a:prstGeom>
        </p:spPr>
        <p:txBody>
          <a:bodyPr anchor="t" rtlCol="false" tIns="0" lIns="0" bIns="0" rIns="0">
            <a:spAutoFit/>
          </a:bodyPr>
          <a:lstStyle/>
          <a:p>
            <a:pPr algn="ctr">
              <a:lnSpc>
                <a:spcPts val="3120"/>
              </a:lnSpc>
              <a:spcBef>
                <a:spcPct val="0"/>
              </a:spcBef>
            </a:pPr>
            <a:r>
              <a:rPr lang="en-US" sz="2400">
                <a:solidFill>
                  <a:srgbClr val="000000"/>
                </a:solidFill>
                <a:latin typeface="Aileron"/>
                <a:ea typeface="Aileron"/>
                <a:cs typeface="Aileron"/>
                <a:sym typeface="Aileron"/>
              </a:rPr>
              <a:t>4</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AF9F4"/>
        </a:solidFill>
      </p:bgPr>
    </p:bg>
    <p:spTree>
      <p:nvGrpSpPr>
        <p:cNvPr id="1" name=""/>
        <p:cNvGrpSpPr/>
        <p:nvPr/>
      </p:nvGrpSpPr>
      <p:grpSpPr>
        <a:xfrm>
          <a:off x="0" y="0"/>
          <a:ext cx="0" cy="0"/>
          <a:chOff x="0" y="0"/>
          <a:chExt cx="0" cy="0"/>
        </a:xfrm>
      </p:grpSpPr>
      <p:sp>
        <p:nvSpPr>
          <p:cNvPr name="TextBox 2" id="2"/>
          <p:cNvSpPr txBox="true"/>
          <p:nvPr/>
        </p:nvSpPr>
        <p:spPr>
          <a:xfrm rot="0">
            <a:off x="1028700" y="1285875"/>
            <a:ext cx="8043099" cy="717071"/>
          </a:xfrm>
          <a:prstGeom prst="rect">
            <a:avLst/>
          </a:prstGeom>
        </p:spPr>
        <p:txBody>
          <a:bodyPr anchor="t" rtlCol="false" tIns="0" lIns="0" bIns="0" rIns="0">
            <a:spAutoFit/>
          </a:bodyPr>
          <a:lstStyle/>
          <a:p>
            <a:pPr algn="l" marL="0" indent="0" lvl="0">
              <a:lnSpc>
                <a:spcPts val="4692"/>
              </a:lnSpc>
              <a:spcBef>
                <a:spcPct val="0"/>
              </a:spcBef>
            </a:pPr>
            <a:r>
              <a:rPr lang="en-US" sz="6428">
                <a:solidFill>
                  <a:srgbClr val="FE89AA"/>
                </a:solidFill>
                <a:latin typeface="Times New Roman"/>
                <a:ea typeface="Times New Roman"/>
                <a:cs typeface="Times New Roman"/>
                <a:sym typeface="Times New Roman"/>
              </a:rPr>
              <a:t>Methodology</a:t>
            </a:r>
          </a:p>
        </p:txBody>
      </p:sp>
      <p:sp>
        <p:nvSpPr>
          <p:cNvPr name="TextBox 3" id="3"/>
          <p:cNvSpPr txBox="true"/>
          <p:nvPr/>
        </p:nvSpPr>
        <p:spPr>
          <a:xfrm rot="0">
            <a:off x="1076325" y="2881425"/>
            <a:ext cx="16643537" cy="5390516"/>
          </a:xfrm>
          <a:prstGeom prst="rect">
            <a:avLst/>
          </a:prstGeom>
        </p:spPr>
        <p:txBody>
          <a:bodyPr anchor="t" rtlCol="false" tIns="0" lIns="0" bIns="0" rIns="0">
            <a:spAutoFit/>
          </a:bodyPr>
          <a:lstStyle/>
          <a:p>
            <a:pPr algn="l" marL="734055" indent="-367027" lvl="1">
              <a:lnSpc>
                <a:spcPts val="4759"/>
              </a:lnSpc>
              <a:buFont typeface="Arial"/>
              <a:buChar char="•"/>
            </a:pPr>
            <a:r>
              <a:rPr lang="en-US" sz="3399">
                <a:solidFill>
                  <a:srgbClr val="442900"/>
                </a:solidFill>
                <a:latin typeface="Aileron"/>
                <a:ea typeface="Aileron"/>
                <a:cs typeface="Aileron"/>
                <a:sym typeface="Aileron"/>
              </a:rPr>
              <a:t>D</a:t>
            </a:r>
            <a:r>
              <a:rPr lang="en-US" sz="3399" strike="noStrike" u="none">
                <a:solidFill>
                  <a:srgbClr val="442900"/>
                </a:solidFill>
                <a:latin typeface="Aileron"/>
                <a:ea typeface="Aileron"/>
                <a:cs typeface="Aileron"/>
                <a:sym typeface="Aileron"/>
              </a:rPr>
              <a:t>ata Collection: Gather user transactions, external API data, and insurance info for comprehensive financial analysis.</a:t>
            </a:r>
          </a:p>
          <a:p>
            <a:pPr algn="l" marL="734055" indent="-367027" lvl="1">
              <a:lnSpc>
                <a:spcPts val="4759"/>
              </a:lnSpc>
              <a:buFont typeface="Arial"/>
              <a:buChar char="•"/>
            </a:pPr>
            <a:r>
              <a:rPr lang="en-US" sz="3399" strike="noStrike" u="none">
                <a:solidFill>
                  <a:srgbClr val="442900"/>
                </a:solidFill>
                <a:latin typeface="Aileron"/>
                <a:ea typeface="Aileron"/>
                <a:cs typeface="Aileron"/>
                <a:sym typeface="Aileron"/>
              </a:rPr>
              <a:t>Data Preprocessing: Clean data, handle missing values, normalize, and engineer features like monthly aggregation and income/expense flags.</a:t>
            </a:r>
          </a:p>
          <a:p>
            <a:pPr algn="l" marL="734055" indent="-367027" lvl="1">
              <a:lnSpc>
                <a:spcPts val="4759"/>
              </a:lnSpc>
              <a:buFont typeface="Arial"/>
              <a:buChar char="•"/>
            </a:pPr>
            <a:r>
              <a:rPr lang="en-US" sz="3399" strike="noStrike" u="none">
                <a:solidFill>
                  <a:srgbClr val="442900"/>
                </a:solidFill>
                <a:latin typeface="Aileron"/>
                <a:ea typeface="Aileron"/>
                <a:cs typeface="Aileron"/>
                <a:sym typeface="Aileron"/>
              </a:rPr>
              <a:t>Machine Learning: Train models (SVR &amp; Random Forest) to predict future expenses; Random Forest gives high accuracy.</a:t>
            </a:r>
          </a:p>
          <a:p>
            <a:pPr algn="l" marL="734055" indent="-367027" lvl="1">
              <a:lnSpc>
                <a:spcPts val="4759"/>
              </a:lnSpc>
              <a:buFont typeface="Arial"/>
              <a:buChar char="•"/>
            </a:pPr>
            <a:r>
              <a:rPr lang="en-US" sz="3399" strike="noStrike" u="none">
                <a:solidFill>
                  <a:srgbClr val="442900"/>
                </a:solidFill>
                <a:latin typeface="Aileron"/>
                <a:ea typeface="Aileron"/>
                <a:cs typeface="Aileron"/>
                <a:sym typeface="Aileron"/>
              </a:rPr>
              <a:t>Dashboard &amp; AI: Visualize income vs. expenses, category-wise spending, predicted costs; AI chatbot provides budgeting and financial recommendations.</a:t>
            </a:r>
          </a:p>
          <a:p>
            <a:pPr algn="l">
              <a:lnSpc>
                <a:spcPts val="4759"/>
              </a:lnSpc>
            </a:pPr>
          </a:p>
        </p:txBody>
      </p:sp>
      <p:sp>
        <p:nvSpPr>
          <p:cNvPr name="TextBox 4" id="4"/>
          <p:cNvSpPr txBox="true"/>
          <p:nvPr/>
        </p:nvSpPr>
        <p:spPr>
          <a:xfrm rot="0">
            <a:off x="17678033" y="9788603"/>
            <a:ext cx="176808" cy="388620"/>
          </a:xfrm>
          <a:prstGeom prst="rect">
            <a:avLst/>
          </a:prstGeom>
        </p:spPr>
        <p:txBody>
          <a:bodyPr anchor="t" rtlCol="false" tIns="0" lIns="0" bIns="0" rIns="0">
            <a:spAutoFit/>
          </a:bodyPr>
          <a:lstStyle/>
          <a:p>
            <a:pPr algn="ctr">
              <a:lnSpc>
                <a:spcPts val="3120"/>
              </a:lnSpc>
              <a:spcBef>
                <a:spcPct val="0"/>
              </a:spcBef>
            </a:pPr>
            <a:r>
              <a:rPr lang="en-US" sz="2400">
                <a:solidFill>
                  <a:srgbClr val="000000"/>
                </a:solidFill>
                <a:latin typeface="Aileron"/>
                <a:ea typeface="Aileron"/>
                <a:cs typeface="Aileron"/>
                <a:sym typeface="Aileron"/>
              </a:rPr>
              <a:t>5</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sp>
        <p:nvSpPr>
          <p:cNvPr name="Freeform 2" id="2"/>
          <p:cNvSpPr/>
          <p:nvPr/>
        </p:nvSpPr>
        <p:spPr>
          <a:xfrm flipH="false" flipV="false" rot="0">
            <a:off x="1323467" y="2026845"/>
            <a:ext cx="4451980" cy="7549672"/>
          </a:xfrm>
          <a:custGeom>
            <a:avLst/>
            <a:gdLst/>
            <a:ahLst/>
            <a:cxnLst/>
            <a:rect r="r" b="b" t="t" l="l"/>
            <a:pathLst>
              <a:path h="7549672" w="4451980">
                <a:moveTo>
                  <a:pt x="0" y="0"/>
                </a:moveTo>
                <a:lnTo>
                  <a:pt x="4451980" y="0"/>
                </a:lnTo>
                <a:lnTo>
                  <a:pt x="4451980" y="7549673"/>
                </a:lnTo>
                <a:lnTo>
                  <a:pt x="0" y="7549673"/>
                </a:lnTo>
                <a:lnTo>
                  <a:pt x="0" y="0"/>
                </a:lnTo>
                <a:close/>
              </a:path>
            </a:pathLst>
          </a:custGeom>
          <a:blipFill>
            <a:blip r:embed="rId2"/>
            <a:stretch>
              <a:fillRect l="-1845" t="-2563" r="0" b="-175"/>
            </a:stretch>
          </a:blipFill>
        </p:spPr>
      </p:sp>
      <p:sp>
        <p:nvSpPr>
          <p:cNvPr name="Freeform 3" id="3"/>
          <p:cNvSpPr/>
          <p:nvPr/>
        </p:nvSpPr>
        <p:spPr>
          <a:xfrm flipH="false" flipV="false" rot="0">
            <a:off x="6088197" y="3057753"/>
            <a:ext cx="11466628" cy="4822079"/>
          </a:xfrm>
          <a:custGeom>
            <a:avLst/>
            <a:gdLst/>
            <a:ahLst/>
            <a:cxnLst/>
            <a:rect r="r" b="b" t="t" l="l"/>
            <a:pathLst>
              <a:path h="4822079" w="11466628">
                <a:moveTo>
                  <a:pt x="0" y="0"/>
                </a:moveTo>
                <a:lnTo>
                  <a:pt x="11466628" y="0"/>
                </a:lnTo>
                <a:lnTo>
                  <a:pt x="11466628" y="4822078"/>
                </a:lnTo>
                <a:lnTo>
                  <a:pt x="0" y="4822078"/>
                </a:lnTo>
                <a:lnTo>
                  <a:pt x="0" y="0"/>
                </a:lnTo>
                <a:close/>
              </a:path>
            </a:pathLst>
          </a:custGeom>
          <a:blipFill>
            <a:blip r:embed="rId3"/>
            <a:stretch>
              <a:fillRect l="0" t="0" r="0" b="0"/>
            </a:stretch>
          </a:blipFill>
        </p:spPr>
      </p:sp>
      <p:sp>
        <p:nvSpPr>
          <p:cNvPr name="TextBox 4" id="4"/>
          <p:cNvSpPr txBox="true"/>
          <p:nvPr/>
        </p:nvSpPr>
        <p:spPr>
          <a:xfrm rot="0">
            <a:off x="1028700" y="798752"/>
            <a:ext cx="8043099" cy="717071"/>
          </a:xfrm>
          <a:prstGeom prst="rect">
            <a:avLst/>
          </a:prstGeom>
        </p:spPr>
        <p:txBody>
          <a:bodyPr anchor="t" rtlCol="false" tIns="0" lIns="0" bIns="0" rIns="0">
            <a:spAutoFit/>
          </a:bodyPr>
          <a:lstStyle/>
          <a:p>
            <a:pPr algn="l" marL="0" indent="0" lvl="0">
              <a:lnSpc>
                <a:spcPts val="4692"/>
              </a:lnSpc>
              <a:spcBef>
                <a:spcPct val="0"/>
              </a:spcBef>
            </a:pPr>
            <a:r>
              <a:rPr lang="en-US" sz="6428">
                <a:solidFill>
                  <a:srgbClr val="FE89AA"/>
                </a:solidFill>
                <a:latin typeface="Times New Roman"/>
                <a:ea typeface="Times New Roman"/>
                <a:cs typeface="Times New Roman"/>
                <a:sym typeface="Times New Roman"/>
              </a:rPr>
              <a:t>Workflow</a:t>
            </a:r>
          </a:p>
        </p:txBody>
      </p:sp>
      <p:sp>
        <p:nvSpPr>
          <p:cNvPr name="TextBox 5" id="5"/>
          <p:cNvSpPr txBox="true"/>
          <p:nvPr/>
        </p:nvSpPr>
        <p:spPr>
          <a:xfrm rot="0">
            <a:off x="17678033" y="9788603"/>
            <a:ext cx="176808" cy="388620"/>
          </a:xfrm>
          <a:prstGeom prst="rect">
            <a:avLst/>
          </a:prstGeom>
        </p:spPr>
        <p:txBody>
          <a:bodyPr anchor="t" rtlCol="false" tIns="0" lIns="0" bIns="0" rIns="0">
            <a:spAutoFit/>
          </a:bodyPr>
          <a:lstStyle/>
          <a:p>
            <a:pPr algn="ctr">
              <a:lnSpc>
                <a:spcPts val="3120"/>
              </a:lnSpc>
              <a:spcBef>
                <a:spcPct val="0"/>
              </a:spcBef>
            </a:pPr>
            <a:r>
              <a:rPr lang="en-US" sz="2400">
                <a:solidFill>
                  <a:srgbClr val="000000"/>
                </a:solidFill>
                <a:latin typeface="Aileron"/>
                <a:ea typeface="Aileron"/>
                <a:cs typeface="Aileron"/>
                <a:sym typeface="Aileron"/>
              </a:rPr>
              <a:t>6</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sp>
        <p:nvSpPr>
          <p:cNvPr name="Freeform 2" id="2"/>
          <p:cNvSpPr/>
          <p:nvPr/>
        </p:nvSpPr>
        <p:spPr>
          <a:xfrm flipH="false" flipV="false" rot="0">
            <a:off x="2564641" y="2837768"/>
            <a:ext cx="13447214" cy="5621203"/>
          </a:xfrm>
          <a:custGeom>
            <a:avLst/>
            <a:gdLst/>
            <a:ahLst/>
            <a:cxnLst/>
            <a:rect r="r" b="b" t="t" l="l"/>
            <a:pathLst>
              <a:path h="5621203" w="13447214">
                <a:moveTo>
                  <a:pt x="0" y="0"/>
                </a:moveTo>
                <a:lnTo>
                  <a:pt x="13447215" y="0"/>
                </a:lnTo>
                <a:lnTo>
                  <a:pt x="13447215" y="5621203"/>
                </a:lnTo>
                <a:lnTo>
                  <a:pt x="0" y="5621203"/>
                </a:lnTo>
                <a:lnTo>
                  <a:pt x="0" y="0"/>
                </a:lnTo>
                <a:close/>
              </a:path>
            </a:pathLst>
          </a:custGeom>
          <a:blipFill>
            <a:blip r:embed="rId2"/>
            <a:stretch>
              <a:fillRect l="0" t="0" r="0" b="0"/>
            </a:stretch>
          </a:blipFill>
        </p:spPr>
      </p:sp>
      <p:sp>
        <p:nvSpPr>
          <p:cNvPr name="TextBox 3" id="3"/>
          <p:cNvSpPr txBox="true"/>
          <p:nvPr/>
        </p:nvSpPr>
        <p:spPr>
          <a:xfrm rot="0">
            <a:off x="658598" y="663545"/>
            <a:ext cx="16970803" cy="1169670"/>
          </a:xfrm>
          <a:prstGeom prst="rect">
            <a:avLst/>
          </a:prstGeom>
        </p:spPr>
        <p:txBody>
          <a:bodyPr anchor="t" rtlCol="false" tIns="0" lIns="0" bIns="0" rIns="0">
            <a:spAutoFit/>
          </a:bodyPr>
          <a:lstStyle/>
          <a:p>
            <a:pPr algn="ctr">
              <a:lnSpc>
                <a:spcPts val="3120"/>
              </a:lnSpc>
              <a:spcBef>
                <a:spcPct val="0"/>
              </a:spcBef>
            </a:pPr>
            <a:r>
              <a:rPr lang="en-US" sz="2400">
                <a:solidFill>
                  <a:srgbClr val="442900"/>
                </a:solidFill>
                <a:latin typeface="Aileron"/>
                <a:ea typeface="Aileron"/>
                <a:cs typeface="Aileron"/>
                <a:sym typeface="Aileron"/>
              </a:rPr>
              <a:t>While Mint and </a:t>
            </a:r>
            <a:r>
              <a:rPr lang="en-US" sz="2400">
                <a:solidFill>
                  <a:srgbClr val="442900"/>
                </a:solidFill>
                <a:latin typeface="Aileron"/>
                <a:ea typeface="Aileron"/>
                <a:cs typeface="Aileron"/>
                <a:sym typeface="Aileron"/>
              </a:rPr>
              <a:t>YNAB do support multiple accounts, they are region-specific and focus mainly on budgeting or manual imports. Our system handles multiple bank accounts in one unified dashboard and adds intelligent ML predictions, spending insights,lending and borrowing details and goal tracking these features not provided together by existing systems.</a:t>
            </a:r>
          </a:p>
        </p:txBody>
      </p:sp>
      <p:sp>
        <p:nvSpPr>
          <p:cNvPr name="TextBox 4" id="4"/>
          <p:cNvSpPr txBox="true"/>
          <p:nvPr/>
        </p:nvSpPr>
        <p:spPr>
          <a:xfrm rot="0">
            <a:off x="17678033" y="9788603"/>
            <a:ext cx="176808" cy="388620"/>
          </a:xfrm>
          <a:prstGeom prst="rect">
            <a:avLst/>
          </a:prstGeom>
        </p:spPr>
        <p:txBody>
          <a:bodyPr anchor="t" rtlCol="false" tIns="0" lIns="0" bIns="0" rIns="0">
            <a:spAutoFit/>
          </a:bodyPr>
          <a:lstStyle/>
          <a:p>
            <a:pPr algn="ctr">
              <a:lnSpc>
                <a:spcPts val="3120"/>
              </a:lnSpc>
              <a:spcBef>
                <a:spcPct val="0"/>
              </a:spcBef>
            </a:pPr>
            <a:r>
              <a:rPr lang="en-US" sz="2400">
                <a:solidFill>
                  <a:srgbClr val="000000"/>
                </a:solidFill>
                <a:latin typeface="Aileron"/>
                <a:ea typeface="Aileron"/>
                <a:cs typeface="Aileron"/>
                <a:sym typeface="Aileron"/>
              </a:rPr>
              <a:t>7</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AF9F4"/>
        </a:solidFill>
      </p:bgPr>
    </p:bg>
    <p:spTree>
      <p:nvGrpSpPr>
        <p:cNvPr id="1" name=""/>
        <p:cNvGrpSpPr/>
        <p:nvPr/>
      </p:nvGrpSpPr>
      <p:grpSpPr>
        <a:xfrm>
          <a:off x="0" y="0"/>
          <a:ext cx="0" cy="0"/>
          <a:chOff x="0" y="0"/>
          <a:chExt cx="0" cy="0"/>
        </a:xfrm>
      </p:grpSpPr>
      <p:sp>
        <p:nvSpPr>
          <p:cNvPr name="TextBox 2" id="2"/>
          <p:cNvSpPr txBox="true"/>
          <p:nvPr/>
        </p:nvSpPr>
        <p:spPr>
          <a:xfrm rot="0">
            <a:off x="1028700" y="798752"/>
            <a:ext cx="8043099" cy="717071"/>
          </a:xfrm>
          <a:prstGeom prst="rect">
            <a:avLst/>
          </a:prstGeom>
        </p:spPr>
        <p:txBody>
          <a:bodyPr anchor="t" rtlCol="false" tIns="0" lIns="0" bIns="0" rIns="0">
            <a:spAutoFit/>
          </a:bodyPr>
          <a:lstStyle/>
          <a:p>
            <a:pPr algn="l" marL="0" indent="0" lvl="0">
              <a:lnSpc>
                <a:spcPts val="4692"/>
              </a:lnSpc>
              <a:spcBef>
                <a:spcPct val="0"/>
              </a:spcBef>
            </a:pPr>
            <a:r>
              <a:rPr lang="en-US" sz="6428">
                <a:solidFill>
                  <a:srgbClr val="FE89AA"/>
                </a:solidFill>
                <a:latin typeface="Times New Roman"/>
                <a:ea typeface="Times New Roman"/>
                <a:cs typeface="Times New Roman"/>
                <a:sym typeface="Times New Roman"/>
              </a:rPr>
              <a:t>Results</a:t>
            </a:r>
          </a:p>
        </p:txBody>
      </p:sp>
      <p:sp>
        <p:nvSpPr>
          <p:cNvPr name="TextBox 3" id="3"/>
          <p:cNvSpPr txBox="true"/>
          <p:nvPr/>
        </p:nvSpPr>
        <p:spPr>
          <a:xfrm rot="0">
            <a:off x="953043" y="1720850"/>
            <a:ext cx="17334957" cy="8566150"/>
          </a:xfrm>
          <a:prstGeom prst="rect">
            <a:avLst/>
          </a:prstGeom>
        </p:spPr>
        <p:txBody>
          <a:bodyPr anchor="t" rtlCol="false" tIns="0" lIns="0" bIns="0" rIns="0">
            <a:spAutoFit/>
          </a:bodyPr>
          <a:lstStyle/>
          <a:p>
            <a:pPr algn="l">
              <a:lnSpc>
                <a:spcPts val="4549"/>
              </a:lnSpc>
            </a:pPr>
            <a:r>
              <a:rPr lang="en-US" sz="3499">
                <a:solidFill>
                  <a:srgbClr val="442900"/>
                </a:solidFill>
                <a:latin typeface="Aileron"/>
                <a:ea typeface="Aileron"/>
                <a:cs typeface="Aileron"/>
                <a:sym typeface="Aileron"/>
              </a:rPr>
              <a:t>Model Performance:</a:t>
            </a:r>
          </a:p>
          <a:p>
            <a:pPr algn="l" marL="755644" indent="-377822" lvl="1">
              <a:lnSpc>
                <a:spcPts val="4549"/>
              </a:lnSpc>
              <a:buFont typeface="Arial"/>
              <a:buChar char="•"/>
            </a:pPr>
            <a:r>
              <a:rPr lang="en-US" sz="3499">
                <a:solidFill>
                  <a:srgbClr val="442900"/>
                </a:solidFill>
                <a:latin typeface="Aileron"/>
                <a:ea typeface="Aileron"/>
                <a:cs typeface="Aileron"/>
                <a:sym typeface="Aileron"/>
              </a:rPr>
              <a:t>Random Forest: MAE = 82.89, RMSE = 87.05 → high accuracy, excellent f</a:t>
            </a:r>
            <a:r>
              <a:rPr lang="en-US" sz="3499">
                <a:solidFill>
                  <a:srgbClr val="442900"/>
                </a:solidFill>
                <a:latin typeface="Aileron"/>
                <a:ea typeface="Aileron"/>
                <a:cs typeface="Aileron"/>
                <a:sym typeface="Aileron"/>
              </a:rPr>
              <a:t>or structured financial data.</a:t>
            </a:r>
          </a:p>
          <a:p>
            <a:pPr algn="l" marL="755644" indent="-377822" lvl="1">
              <a:lnSpc>
                <a:spcPts val="4549"/>
              </a:lnSpc>
              <a:spcBef>
                <a:spcPct val="0"/>
              </a:spcBef>
              <a:buFont typeface="Arial"/>
              <a:buChar char="•"/>
            </a:pPr>
            <a:r>
              <a:rPr lang="en-US" sz="3499">
                <a:solidFill>
                  <a:srgbClr val="442900"/>
                </a:solidFill>
                <a:latin typeface="Aileron"/>
                <a:ea typeface="Aileron"/>
                <a:cs typeface="Aileron"/>
                <a:sym typeface="Aileron"/>
              </a:rPr>
              <a:t>SVR: MAE = 96.92, RMSE = 98.25 → moderate accuracy, good for general trend prediction.</a:t>
            </a:r>
          </a:p>
          <a:p>
            <a:pPr algn="l">
              <a:lnSpc>
                <a:spcPts val="4549"/>
              </a:lnSpc>
              <a:spcBef>
                <a:spcPct val="0"/>
              </a:spcBef>
            </a:pPr>
            <a:r>
              <a:rPr lang="en-US" sz="3499">
                <a:solidFill>
                  <a:srgbClr val="442900"/>
                </a:solidFill>
                <a:latin typeface="Aileron"/>
                <a:ea typeface="Aileron"/>
                <a:cs typeface="Aileron"/>
                <a:sym typeface="Aileron"/>
              </a:rPr>
              <a:t>Predicted vs. Actual Expenses:</a:t>
            </a:r>
          </a:p>
          <a:p>
            <a:pPr algn="l" marL="755644" indent="-377822" lvl="1">
              <a:lnSpc>
                <a:spcPts val="4549"/>
              </a:lnSpc>
              <a:buFont typeface="Arial"/>
              <a:buChar char="•"/>
            </a:pPr>
            <a:r>
              <a:rPr lang="en-US" sz="3499">
                <a:solidFill>
                  <a:srgbClr val="442900"/>
                </a:solidFill>
                <a:latin typeface="Aileron"/>
                <a:ea typeface="Aileron"/>
                <a:cs typeface="Aileron"/>
                <a:sym typeface="Aileron"/>
              </a:rPr>
              <a:t>S</a:t>
            </a:r>
            <a:r>
              <a:rPr lang="en-US" sz="3499">
                <a:solidFill>
                  <a:srgbClr val="442900"/>
                </a:solidFill>
                <a:latin typeface="Aileron"/>
                <a:ea typeface="Aileron"/>
                <a:cs typeface="Aileron"/>
                <a:sym typeface="Aileron"/>
              </a:rPr>
              <a:t>ystem reliably forecasts next-month spending based on historical data.</a:t>
            </a:r>
          </a:p>
          <a:p>
            <a:pPr algn="l" marL="755644" indent="-377822" lvl="1">
              <a:lnSpc>
                <a:spcPts val="4549"/>
              </a:lnSpc>
              <a:buFont typeface="Arial"/>
              <a:buChar char="•"/>
            </a:pPr>
            <a:r>
              <a:rPr lang="en-US" sz="3499">
                <a:solidFill>
                  <a:srgbClr val="442900"/>
                </a:solidFill>
                <a:latin typeface="Aileron"/>
                <a:ea typeface="Aileron"/>
                <a:cs typeface="Aileron"/>
                <a:sym typeface="Aileron"/>
              </a:rPr>
              <a:t>Visual comparison charts show close alignment between predicted and actual expenses.</a:t>
            </a:r>
          </a:p>
          <a:p>
            <a:pPr algn="l">
              <a:lnSpc>
                <a:spcPts val="4549"/>
              </a:lnSpc>
              <a:spcBef>
                <a:spcPct val="0"/>
              </a:spcBef>
            </a:pPr>
            <a:r>
              <a:rPr lang="en-US" sz="3499">
                <a:solidFill>
                  <a:srgbClr val="442900"/>
                </a:solidFill>
                <a:latin typeface="Aileron"/>
                <a:ea typeface="Aileron"/>
                <a:cs typeface="Aileron"/>
                <a:sym typeface="Aileron"/>
              </a:rPr>
              <a:t>Visual Insights:</a:t>
            </a:r>
          </a:p>
          <a:p>
            <a:pPr algn="l" marL="755644" indent="-377822" lvl="1">
              <a:lnSpc>
                <a:spcPts val="4549"/>
              </a:lnSpc>
              <a:buFont typeface="Arial"/>
              <a:buChar char="•"/>
            </a:pPr>
            <a:r>
              <a:rPr lang="en-US" sz="3499">
                <a:solidFill>
                  <a:srgbClr val="442900"/>
                </a:solidFill>
                <a:latin typeface="Aileron"/>
                <a:ea typeface="Aileron"/>
                <a:cs typeface="Aileron"/>
                <a:sym typeface="Aileron"/>
              </a:rPr>
              <a:t>Category-wise spending (Food, Bills, Entertainment, etc.)</a:t>
            </a:r>
          </a:p>
          <a:p>
            <a:pPr algn="l" marL="755644" indent="-377822" lvl="1">
              <a:lnSpc>
                <a:spcPts val="4549"/>
              </a:lnSpc>
              <a:spcBef>
                <a:spcPct val="0"/>
              </a:spcBef>
              <a:buFont typeface="Arial"/>
              <a:buChar char="•"/>
            </a:pPr>
            <a:r>
              <a:rPr lang="en-US" sz="3499">
                <a:solidFill>
                  <a:srgbClr val="442900"/>
                </a:solidFill>
                <a:latin typeface="Aileron"/>
                <a:ea typeface="Aileron"/>
                <a:cs typeface="Aileron"/>
                <a:sym typeface="Aileron"/>
              </a:rPr>
              <a:t>Monthly income vs. expenses trends</a:t>
            </a:r>
          </a:p>
          <a:p>
            <a:pPr algn="l">
              <a:lnSpc>
                <a:spcPts val="4549"/>
              </a:lnSpc>
              <a:spcBef>
                <a:spcPct val="0"/>
              </a:spcBef>
            </a:pPr>
            <a:r>
              <a:rPr lang="en-US" sz="3499">
                <a:solidFill>
                  <a:srgbClr val="442900"/>
                </a:solidFill>
                <a:latin typeface="Aileron"/>
                <a:ea typeface="Aileron"/>
                <a:cs typeface="Aileron"/>
                <a:sym typeface="Aileron"/>
              </a:rPr>
              <a:t>User Benefits:</a:t>
            </a:r>
          </a:p>
          <a:p>
            <a:pPr algn="l" marL="755644" indent="-377822" lvl="1">
              <a:lnSpc>
                <a:spcPts val="4549"/>
              </a:lnSpc>
              <a:buFont typeface="Arial"/>
              <a:buChar char="•"/>
            </a:pPr>
            <a:r>
              <a:rPr lang="en-US" sz="3499">
                <a:solidFill>
                  <a:srgbClr val="442900"/>
                </a:solidFill>
                <a:latin typeface="Aileron"/>
                <a:ea typeface="Aileron"/>
                <a:cs typeface="Aileron"/>
                <a:sym typeface="Aileron"/>
              </a:rPr>
              <a:t>Helps identify overspending categories and potential savings opportunities.</a:t>
            </a:r>
          </a:p>
          <a:p>
            <a:pPr algn="ctr">
              <a:lnSpc>
                <a:spcPts val="4549"/>
              </a:lnSpc>
              <a:spcBef>
                <a:spcPct val="0"/>
              </a:spcBef>
            </a:pPr>
          </a:p>
        </p:txBody>
      </p:sp>
      <p:sp>
        <p:nvSpPr>
          <p:cNvPr name="TextBox 4" id="4"/>
          <p:cNvSpPr txBox="true"/>
          <p:nvPr/>
        </p:nvSpPr>
        <p:spPr>
          <a:xfrm rot="0">
            <a:off x="17678033" y="9788603"/>
            <a:ext cx="176808" cy="388620"/>
          </a:xfrm>
          <a:prstGeom prst="rect">
            <a:avLst/>
          </a:prstGeom>
        </p:spPr>
        <p:txBody>
          <a:bodyPr anchor="t" rtlCol="false" tIns="0" lIns="0" bIns="0" rIns="0">
            <a:spAutoFit/>
          </a:bodyPr>
          <a:lstStyle/>
          <a:p>
            <a:pPr algn="ctr">
              <a:lnSpc>
                <a:spcPts val="3120"/>
              </a:lnSpc>
              <a:spcBef>
                <a:spcPct val="0"/>
              </a:spcBef>
            </a:pPr>
            <a:r>
              <a:rPr lang="en-US" sz="2400">
                <a:solidFill>
                  <a:srgbClr val="000000"/>
                </a:solidFill>
                <a:latin typeface="Aileron"/>
                <a:ea typeface="Aileron"/>
                <a:cs typeface="Aileron"/>
                <a:sym typeface="Aileron"/>
              </a:rPr>
              <a:t>8</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sp>
        <p:nvSpPr>
          <p:cNvPr name="Freeform 2" id="2"/>
          <p:cNvSpPr/>
          <p:nvPr/>
        </p:nvSpPr>
        <p:spPr>
          <a:xfrm flipH="false" flipV="false" rot="0">
            <a:off x="1399876" y="2157748"/>
            <a:ext cx="8251729" cy="6326015"/>
          </a:xfrm>
          <a:custGeom>
            <a:avLst/>
            <a:gdLst/>
            <a:ahLst/>
            <a:cxnLst/>
            <a:rect r="r" b="b" t="t" l="l"/>
            <a:pathLst>
              <a:path h="6326015" w="8251729">
                <a:moveTo>
                  <a:pt x="0" y="0"/>
                </a:moveTo>
                <a:lnTo>
                  <a:pt x="8251729" y="0"/>
                </a:lnTo>
                <a:lnTo>
                  <a:pt x="8251729" y="6326015"/>
                </a:lnTo>
                <a:lnTo>
                  <a:pt x="0" y="6326015"/>
                </a:lnTo>
                <a:lnTo>
                  <a:pt x="0" y="0"/>
                </a:lnTo>
                <a:close/>
              </a:path>
            </a:pathLst>
          </a:custGeom>
          <a:blipFill>
            <a:blip r:embed="rId2"/>
            <a:stretch>
              <a:fillRect l="0" t="0" r="0" b="0"/>
            </a:stretch>
          </a:blipFill>
        </p:spPr>
      </p:sp>
      <p:sp>
        <p:nvSpPr>
          <p:cNvPr name="Freeform 3" id="3"/>
          <p:cNvSpPr/>
          <p:nvPr/>
        </p:nvSpPr>
        <p:spPr>
          <a:xfrm flipH="false" flipV="false" rot="0">
            <a:off x="10422125" y="2157748"/>
            <a:ext cx="7343095" cy="6218013"/>
          </a:xfrm>
          <a:custGeom>
            <a:avLst/>
            <a:gdLst/>
            <a:ahLst/>
            <a:cxnLst/>
            <a:rect r="r" b="b" t="t" l="l"/>
            <a:pathLst>
              <a:path h="6218013" w="7343095">
                <a:moveTo>
                  <a:pt x="0" y="0"/>
                </a:moveTo>
                <a:lnTo>
                  <a:pt x="7343095" y="0"/>
                </a:lnTo>
                <a:lnTo>
                  <a:pt x="7343095" y="6218012"/>
                </a:lnTo>
                <a:lnTo>
                  <a:pt x="0" y="6218012"/>
                </a:lnTo>
                <a:lnTo>
                  <a:pt x="0" y="0"/>
                </a:lnTo>
                <a:close/>
              </a:path>
            </a:pathLst>
          </a:custGeom>
          <a:blipFill>
            <a:blip r:embed="rId3"/>
            <a:stretch>
              <a:fillRect l="0" t="0" r="0" b="0"/>
            </a:stretch>
          </a:blipFill>
        </p:spPr>
      </p:sp>
      <p:sp>
        <p:nvSpPr>
          <p:cNvPr name="TextBox 4" id="4"/>
          <p:cNvSpPr txBox="true"/>
          <p:nvPr/>
        </p:nvSpPr>
        <p:spPr>
          <a:xfrm rot="0">
            <a:off x="1028700" y="798752"/>
            <a:ext cx="8043099" cy="717071"/>
          </a:xfrm>
          <a:prstGeom prst="rect">
            <a:avLst/>
          </a:prstGeom>
        </p:spPr>
        <p:txBody>
          <a:bodyPr anchor="t" rtlCol="false" tIns="0" lIns="0" bIns="0" rIns="0">
            <a:spAutoFit/>
          </a:bodyPr>
          <a:lstStyle/>
          <a:p>
            <a:pPr algn="l" marL="0" indent="0" lvl="0">
              <a:lnSpc>
                <a:spcPts val="4692"/>
              </a:lnSpc>
              <a:spcBef>
                <a:spcPct val="0"/>
              </a:spcBef>
            </a:pPr>
            <a:r>
              <a:rPr lang="en-US" sz="6428">
                <a:solidFill>
                  <a:srgbClr val="FE89AA"/>
                </a:solidFill>
                <a:latin typeface="Times New Roman"/>
                <a:ea typeface="Times New Roman"/>
                <a:cs typeface="Times New Roman"/>
                <a:sym typeface="Times New Roman"/>
              </a:rPr>
              <a:t>Results</a:t>
            </a:r>
          </a:p>
        </p:txBody>
      </p:sp>
      <p:sp>
        <p:nvSpPr>
          <p:cNvPr name="TextBox 5" id="5"/>
          <p:cNvSpPr txBox="true"/>
          <p:nvPr/>
        </p:nvSpPr>
        <p:spPr>
          <a:xfrm rot="0">
            <a:off x="17678033" y="9788603"/>
            <a:ext cx="176808" cy="388620"/>
          </a:xfrm>
          <a:prstGeom prst="rect">
            <a:avLst/>
          </a:prstGeom>
        </p:spPr>
        <p:txBody>
          <a:bodyPr anchor="t" rtlCol="false" tIns="0" lIns="0" bIns="0" rIns="0">
            <a:spAutoFit/>
          </a:bodyPr>
          <a:lstStyle/>
          <a:p>
            <a:pPr algn="ctr">
              <a:lnSpc>
                <a:spcPts val="3120"/>
              </a:lnSpc>
              <a:spcBef>
                <a:spcPct val="0"/>
              </a:spcBef>
            </a:pPr>
            <a:r>
              <a:rPr lang="en-US" sz="2400">
                <a:solidFill>
                  <a:srgbClr val="000000"/>
                </a:solidFill>
                <a:latin typeface="Aileron"/>
                <a:ea typeface="Aileron"/>
                <a:cs typeface="Aileron"/>
                <a:sym typeface="Aileron"/>
              </a:rPr>
              <a:t>9</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AF9F4"/>
        </a:solidFill>
      </p:bgPr>
    </p:bg>
    <p:spTree>
      <p:nvGrpSpPr>
        <p:cNvPr id="1" name=""/>
        <p:cNvGrpSpPr/>
        <p:nvPr/>
      </p:nvGrpSpPr>
      <p:grpSpPr>
        <a:xfrm>
          <a:off x="0" y="0"/>
          <a:ext cx="0" cy="0"/>
          <a:chOff x="0" y="0"/>
          <a:chExt cx="0" cy="0"/>
        </a:xfrm>
      </p:grpSpPr>
      <p:sp>
        <p:nvSpPr>
          <p:cNvPr name="TextBox 2" id="2"/>
          <p:cNvSpPr txBox="true"/>
          <p:nvPr/>
        </p:nvSpPr>
        <p:spPr>
          <a:xfrm rot="0">
            <a:off x="1181100" y="951152"/>
            <a:ext cx="2953369" cy="717071"/>
          </a:xfrm>
          <a:prstGeom prst="rect">
            <a:avLst/>
          </a:prstGeom>
        </p:spPr>
        <p:txBody>
          <a:bodyPr anchor="t" rtlCol="false" tIns="0" lIns="0" bIns="0" rIns="0">
            <a:spAutoFit/>
          </a:bodyPr>
          <a:lstStyle/>
          <a:p>
            <a:pPr algn="l" marL="0" indent="0" lvl="0">
              <a:lnSpc>
                <a:spcPts val="4692"/>
              </a:lnSpc>
              <a:spcBef>
                <a:spcPct val="0"/>
              </a:spcBef>
            </a:pPr>
            <a:r>
              <a:rPr lang="en-US" sz="6428">
                <a:solidFill>
                  <a:srgbClr val="FE89AA"/>
                </a:solidFill>
                <a:latin typeface="Times New Roman"/>
                <a:ea typeface="Times New Roman"/>
                <a:cs typeface="Times New Roman"/>
                <a:sym typeface="Times New Roman"/>
              </a:rPr>
              <a:t>Novelty</a:t>
            </a:r>
          </a:p>
        </p:txBody>
      </p:sp>
      <p:sp>
        <p:nvSpPr>
          <p:cNvPr name="TextBox 3" id="3"/>
          <p:cNvSpPr txBox="true"/>
          <p:nvPr/>
        </p:nvSpPr>
        <p:spPr>
          <a:xfrm rot="0">
            <a:off x="1181100" y="1982455"/>
            <a:ext cx="16344776" cy="7423150"/>
          </a:xfrm>
          <a:prstGeom prst="rect">
            <a:avLst/>
          </a:prstGeom>
        </p:spPr>
        <p:txBody>
          <a:bodyPr anchor="t" rtlCol="false" tIns="0" lIns="0" bIns="0" rIns="0">
            <a:spAutoFit/>
          </a:bodyPr>
          <a:lstStyle/>
          <a:p>
            <a:pPr algn="l" marL="755644" indent="-377822" lvl="1">
              <a:lnSpc>
                <a:spcPts val="4549"/>
              </a:lnSpc>
              <a:buFont typeface="Arial"/>
              <a:buChar char="•"/>
            </a:pPr>
            <a:r>
              <a:rPr lang="en-US" sz="3499">
                <a:solidFill>
                  <a:srgbClr val="442900"/>
                </a:solidFill>
                <a:latin typeface="Aileron"/>
                <a:ea typeface="Aileron"/>
                <a:cs typeface="Aileron"/>
                <a:sym typeface="Aileron"/>
              </a:rPr>
              <a:t>The system allows users to link and monitor multiple bank accounts within a single platfo</a:t>
            </a:r>
            <a:r>
              <a:rPr lang="en-US" sz="3499">
                <a:solidFill>
                  <a:srgbClr val="442900"/>
                </a:solidFill>
                <a:latin typeface="Aileron"/>
                <a:ea typeface="Aileron"/>
                <a:cs typeface="Aileron"/>
                <a:sym typeface="Aileron"/>
              </a:rPr>
              <a:t>rm, offering a consolidated view of all transactions in one place something most basic expense trackers lack.</a:t>
            </a:r>
          </a:p>
          <a:p>
            <a:pPr algn="l" marL="755644" indent="-377822" lvl="1">
              <a:lnSpc>
                <a:spcPts val="4549"/>
              </a:lnSpc>
              <a:buFont typeface="Arial"/>
              <a:buChar char="•"/>
            </a:pPr>
            <a:r>
              <a:rPr lang="en-US" sz="3499">
                <a:solidFill>
                  <a:srgbClr val="442900"/>
                </a:solidFill>
                <a:latin typeface="Aileron"/>
                <a:ea typeface="Aileron"/>
                <a:cs typeface="Aileron"/>
                <a:sym typeface="Aileron"/>
              </a:rPr>
              <a:t>Beyond regular expense tracking, the platform uniquely integrates lending/borrowing records and personalized savings goals into a unified dashboard,</a:t>
            </a:r>
            <a:r>
              <a:rPr lang="en-US" sz="3499">
                <a:solidFill>
                  <a:srgbClr val="442900"/>
                </a:solidFill>
                <a:latin typeface="Aileron"/>
                <a:ea typeface="Aileron"/>
                <a:cs typeface="Aileron"/>
                <a:sym typeface="Aileron"/>
              </a:rPr>
              <a:t> </a:t>
            </a:r>
            <a:r>
              <a:rPr lang="en-US" sz="3499">
                <a:solidFill>
                  <a:srgbClr val="442900"/>
                </a:solidFill>
                <a:latin typeface="Aileron"/>
                <a:ea typeface="Aileron"/>
                <a:cs typeface="Aileron"/>
                <a:sym typeface="Aileron"/>
              </a:rPr>
              <a:t>enabling complete financial visibility.</a:t>
            </a:r>
          </a:p>
          <a:p>
            <a:pPr algn="l" marL="755644" indent="-377822" lvl="1">
              <a:lnSpc>
                <a:spcPts val="4549"/>
              </a:lnSpc>
              <a:buFont typeface="Arial"/>
              <a:buChar char="•"/>
            </a:pPr>
            <a:r>
              <a:rPr lang="en-US" sz="3499">
                <a:solidFill>
                  <a:srgbClr val="442900"/>
                </a:solidFill>
                <a:latin typeface="Aileron"/>
                <a:ea typeface="Aileron"/>
                <a:cs typeface="Aileron"/>
                <a:sym typeface="Aileron"/>
              </a:rPr>
              <a:t>The system implements ML model</a:t>
            </a:r>
            <a:r>
              <a:rPr lang="en-US" sz="3499">
                <a:solidFill>
                  <a:srgbClr val="442900"/>
                </a:solidFill>
                <a:latin typeface="Aileron"/>
                <a:ea typeface="Aileron"/>
                <a:cs typeface="Aileron"/>
                <a:sym typeface="Aileron"/>
              </a:rPr>
              <a:t>s to accurately forecast upcoming month expenses based on historical spending patt</a:t>
            </a:r>
            <a:r>
              <a:rPr lang="en-US" sz="3499">
                <a:solidFill>
                  <a:srgbClr val="442900"/>
                </a:solidFill>
                <a:latin typeface="Aileron"/>
                <a:ea typeface="Aileron"/>
                <a:cs typeface="Aileron"/>
                <a:sym typeface="Aileron"/>
              </a:rPr>
              <a:t>erns, giving users proactive financial insights.</a:t>
            </a:r>
          </a:p>
          <a:p>
            <a:pPr algn="l" marL="755644" indent="-377822" lvl="1">
              <a:lnSpc>
                <a:spcPts val="4549"/>
              </a:lnSpc>
              <a:buFont typeface="Arial"/>
              <a:buChar char="•"/>
            </a:pPr>
            <a:r>
              <a:rPr lang="en-US" sz="3499">
                <a:solidFill>
                  <a:srgbClr val="442900"/>
                </a:solidFill>
                <a:latin typeface="Aileron"/>
                <a:ea typeface="Aileron"/>
                <a:cs typeface="Aileron"/>
                <a:sym typeface="Aileron"/>
              </a:rPr>
              <a:t>Using predicted expenditure and income trends, the system provides personalized recommendations to help users cut unnecessary spending and increase savings over time.</a:t>
            </a:r>
          </a:p>
          <a:p>
            <a:pPr algn="l">
              <a:lnSpc>
                <a:spcPts val="4549"/>
              </a:lnSpc>
              <a:spcBef>
                <a:spcPct val="0"/>
              </a:spcBef>
            </a:pPr>
          </a:p>
        </p:txBody>
      </p:sp>
      <p:sp>
        <p:nvSpPr>
          <p:cNvPr name="TextBox 4" id="4"/>
          <p:cNvSpPr txBox="true"/>
          <p:nvPr/>
        </p:nvSpPr>
        <p:spPr>
          <a:xfrm rot="0">
            <a:off x="17589629" y="9788603"/>
            <a:ext cx="353616" cy="388620"/>
          </a:xfrm>
          <a:prstGeom prst="rect">
            <a:avLst/>
          </a:prstGeom>
        </p:spPr>
        <p:txBody>
          <a:bodyPr anchor="t" rtlCol="false" tIns="0" lIns="0" bIns="0" rIns="0">
            <a:spAutoFit/>
          </a:bodyPr>
          <a:lstStyle/>
          <a:p>
            <a:pPr algn="ctr">
              <a:lnSpc>
                <a:spcPts val="3120"/>
              </a:lnSpc>
              <a:spcBef>
                <a:spcPct val="0"/>
              </a:spcBef>
            </a:pPr>
            <a:r>
              <a:rPr lang="en-US" sz="2400">
                <a:solidFill>
                  <a:srgbClr val="000000"/>
                </a:solidFill>
                <a:latin typeface="Aileron"/>
                <a:ea typeface="Aileron"/>
                <a:cs typeface="Aileron"/>
                <a:sym typeface="Aileron"/>
              </a:rPr>
              <a:t>10</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sp>
        <p:nvSpPr>
          <p:cNvPr name="Freeform 2" id="2"/>
          <p:cNvSpPr/>
          <p:nvPr/>
        </p:nvSpPr>
        <p:spPr>
          <a:xfrm flipH="false" flipV="false" rot="0">
            <a:off x="10720633" y="2644398"/>
            <a:ext cx="6016236" cy="1196660"/>
          </a:xfrm>
          <a:custGeom>
            <a:avLst/>
            <a:gdLst/>
            <a:ahLst/>
            <a:cxnLst/>
            <a:rect r="r" b="b" t="t" l="l"/>
            <a:pathLst>
              <a:path h="1196660" w="6016236">
                <a:moveTo>
                  <a:pt x="0" y="0"/>
                </a:moveTo>
                <a:lnTo>
                  <a:pt x="6016236" y="0"/>
                </a:lnTo>
                <a:lnTo>
                  <a:pt x="6016236" y="1196660"/>
                </a:lnTo>
                <a:lnTo>
                  <a:pt x="0" y="1196660"/>
                </a:lnTo>
                <a:lnTo>
                  <a:pt x="0" y="0"/>
                </a:lnTo>
                <a:close/>
              </a:path>
            </a:pathLst>
          </a:custGeom>
          <a:blipFill>
            <a:blip r:embed="rId2"/>
            <a:stretch>
              <a:fillRect l="0" t="0" r="0" b="0"/>
            </a:stretch>
          </a:blipFill>
        </p:spPr>
      </p:sp>
      <p:sp>
        <p:nvSpPr>
          <p:cNvPr name="Freeform 3" id="3"/>
          <p:cNvSpPr/>
          <p:nvPr/>
        </p:nvSpPr>
        <p:spPr>
          <a:xfrm flipH="false" flipV="false" rot="0">
            <a:off x="2068806" y="1930209"/>
            <a:ext cx="7550017" cy="5840987"/>
          </a:xfrm>
          <a:custGeom>
            <a:avLst/>
            <a:gdLst/>
            <a:ahLst/>
            <a:cxnLst/>
            <a:rect r="r" b="b" t="t" l="l"/>
            <a:pathLst>
              <a:path h="5840987" w="7550017">
                <a:moveTo>
                  <a:pt x="0" y="0"/>
                </a:moveTo>
                <a:lnTo>
                  <a:pt x="7550017" y="0"/>
                </a:lnTo>
                <a:lnTo>
                  <a:pt x="7550017" y="5840987"/>
                </a:lnTo>
                <a:lnTo>
                  <a:pt x="0" y="5840987"/>
                </a:lnTo>
                <a:lnTo>
                  <a:pt x="0" y="0"/>
                </a:lnTo>
                <a:close/>
              </a:path>
            </a:pathLst>
          </a:custGeom>
          <a:blipFill>
            <a:blip r:embed="rId3"/>
            <a:stretch>
              <a:fillRect l="0" t="0" r="0" b="0"/>
            </a:stretch>
          </a:blipFill>
        </p:spPr>
      </p:sp>
      <p:sp>
        <p:nvSpPr>
          <p:cNvPr name="TextBox 4" id="4"/>
          <p:cNvSpPr txBox="true"/>
          <p:nvPr/>
        </p:nvSpPr>
        <p:spPr>
          <a:xfrm rot="0">
            <a:off x="1551131" y="8109382"/>
            <a:ext cx="15185738" cy="1717449"/>
          </a:xfrm>
          <a:prstGeom prst="rect">
            <a:avLst/>
          </a:prstGeom>
        </p:spPr>
        <p:txBody>
          <a:bodyPr anchor="t" rtlCol="false" tIns="0" lIns="0" bIns="0" rIns="0">
            <a:spAutoFit/>
          </a:bodyPr>
          <a:lstStyle/>
          <a:p>
            <a:pPr algn="ctr">
              <a:lnSpc>
                <a:spcPts val="4562"/>
              </a:lnSpc>
              <a:spcBef>
                <a:spcPct val="0"/>
              </a:spcBef>
            </a:pPr>
            <a:r>
              <a:rPr lang="en-US" sz="3259">
                <a:solidFill>
                  <a:srgbClr val="442900"/>
                </a:solidFill>
                <a:latin typeface="Times New Roman"/>
                <a:ea typeface="Times New Roman"/>
                <a:cs typeface="Times New Roman"/>
                <a:sym typeface="Times New Roman"/>
              </a:rPr>
              <a:t>The LSTM model provides most reliable highly accurate and stable time-series predictions </a:t>
            </a:r>
            <a:r>
              <a:rPr lang="en-US" sz="3259">
                <a:solidFill>
                  <a:srgbClr val="442900"/>
                </a:solidFill>
                <a:latin typeface="Times New Roman"/>
                <a:ea typeface="Times New Roman"/>
                <a:cs typeface="Times New Roman"/>
                <a:sym typeface="Times New Roman"/>
              </a:rPr>
              <a:t>of user expenses, capturing temporal patterns to enable reliable forecasting, personalized budget insights, and proactive financial recommendations</a:t>
            </a:r>
          </a:p>
        </p:txBody>
      </p:sp>
      <p:sp>
        <p:nvSpPr>
          <p:cNvPr name="TextBox 5" id="5"/>
          <p:cNvSpPr txBox="true"/>
          <p:nvPr/>
        </p:nvSpPr>
        <p:spPr>
          <a:xfrm rot="0">
            <a:off x="1551131" y="798752"/>
            <a:ext cx="2360744" cy="717071"/>
          </a:xfrm>
          <a:prstGeom prst="rect">
            <a:avLst/>
          </a:prstGeom>
        </p:spPr>
        <p:txBody>
          <a:bodyPr anchor="t" rtlCol="false" tIns="0" lIns="0" bIns="0" rIns="0">
            <a:spAutoFit/>
          </a:bodyPr>
          <a:lstStyle/>
          <a:p>
            <a:pPr algn="l" marL="0" indent="0" lvl="0">
              <a:lnSpc>
                <a:spcPts val="4692"/>
              </a:lnSpc>
              <a:spcBef>
                <a:spcPct val="0"/>
              </a:spcBef>
            </a:pPr>
            <a:r>
              <a:rPr lang="en-US" sz="6428">
                <a:solidFill>
                  <a:srgbClr val="FE89AA"/>
                </a:solidFill>
                <a:latin typeface="Times New Roman"/>
                <a:ea typeface="Times New Roman"/>
                <a:cs typeface="Times New Roman"/>
                <a:sym typeface="Times New Roman"/>
              </a:rPr>
              <a:t>Result</a:t>
            </a:r>
          </a:p>
        </p:txBody>
      </p:sp>
      <p:sp>
        <p:nvSpPr>
          <p:cNvPr name="TextBox 6" id="6"/>
          <p:cNvSpPr txBox="true"/>
          <p:nvPr/>
        </p:nvSpPr>
        <p:spPr>
          <a:xfrm rot="0">
            <a:off x="10089407" y="4427998"/>
            <a:ext cx="7598974" cy="1976038"/>
          </a:xfrm>
          <a:prstGeom prst="rect">
            <a:avLst/>
          </a:prstGeom>
        </p:spPr>
        <p:txBody>
          <a:bodyPr anchor="t" rtlCol="false" tIns="0" lIns="0" bIns="0" rIns="0">
            <a:spAutoFit/>
          </a:bodyPr>
          <a:lstStyle/>
          <a:p>
            <a:pPr algn="ctr">
              <a:lnSpc>
                <a:spcPts val="3959"/>
              </a:lnSpc>
              <a:spcBef>
                <a:spcPct val="0"/>
              </a:spcBef>
            </a:pPr>
            <a:r>
              <a:rPr lang="en-US" sz="2828">
                <a:solidFill>
                  <a:srgbClr val="442900"/>
                </a:solidFill>
                <a:latin typeface="Times New Roman"/>
                <a:ea typeface="Times New Roman"/>
                <a:cs typeface="Times New Roman"/>
                <a:sym typeface="Times New Roman"/>
              </a:rPr>
              <a:t>Financial Guidance: The system </a:t>
            </a:r>
            <a:r>
              <a:rPr lang="en-US" sz="2828">
                <a:solidFill>
                  <a:srgbClr val="442900"/>
                </a:solidFill>
                <a:latin typeface="Times New Roman"/>
                <a:ea typeface="Times New Roman"/>
                <a:cs typeface="Times New Roman"/>
                <a:sym typeface="Times New Roman"/>
              </a:rPr>
              <a:t>uses LSTM-predicted expenses and risk scoring to provide personalized, proactive recommendations for budgeting, savings, and insurance planning.</a:t>
            </a:r>
          </a:p>
        </p:txBody>
      </p:sp>
      <p:sp>
        <p:nvSpPr>
          <p:cNvPr name="TextBox 7" id="7"/>
          <p:cNvSpPr txBox="true"/>
          <p:nvPr/>
        </p:nvSpPr>
        <p:spPr>
          <a:xfrm rot="0">
            <a:off x="17589629" y="9788603"/>
            <a:ext cx="353616" cy="388620"/>
          </a:xfrm>
          <a:prstGeom prst="rect">
            <a:avLst/>
          </a:prstGeom>
        </p:spPr>
        <p:txBody>
          <a:bodyPr anchor="t" rtlCol="false" tIns="0" lIns="0" bIns="0" rIns="0">
            <a:spAutoFit/>
          </a:bodyPr>
          <a:lstStyle/>
          <a:p>
            <a:pPr algn="ctr">
              <a:lnSpc>
                <a:spcPts val="3120"/>
              </a:lnSpc>
              <a:spcBef>
                <a:spcPct val="0"/>
              </a:spcBef>
            </a:pPr>
            <a:r>
              <a:rPr lang="en-US" sz="2400">
                <a:solidFill>
                  <a:srgbClr val="000000"/>
                </a:solidFill>
                <a:latin typeface="Aileron"/>
                <a:ea typeface="Aileron"/>
                <a:cs typeface="Aileron"/>
                <a:sym typeface="Aileron"/>
              </a:rPr>
              <a:t>11</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AF9F4"/>
        </a:solidFill>
      </p:bgPr>
    </p:bg>
    <p:spTree>
      <p:nvGrpSpPr>
        <p:cNvPr id="1" name=""/>
        <p:cNvGrpSpPr/>
        <p:nvPr/>
      </p:nvGrpSpPr>
      <p:grpSpPr>
        <a:xfrm>
          <a:off x="0" y="0"/>
          <a:ext cx="0" cy="0"/>
          <a:chOff x="0" y="0"/>
          <a:chExt cx="0" cy="0"/>
        </a:xfrm>
      </p:grpSpPr>
      <p:sp>
        <p:nvSpPr>
          <p:cNvPr name="TextBox 2" id="2"/>
          <p:cNvSpPr txBox="true"/>
          <p:nvPr/>
        </p:nvSpPr>
        <p:spPr>
          <a:xfrm rot="0">
            <a:off x="1028700" y="798752"/>
            <a:ext cx="8043099" cy="717071"/>
          </a:xfrm>
          <a:prstGeom prst="rect">
            <a:avLst/>
          </a:prstGeom>
        </p:spPr>
        <p:txBody>
          <a:bodyPr anchor="t" rtlCol="false" tIns="0" lIns="0" bIns="0" rIns="0">
            <a:spAutoFit/>
          </a:bodyPr>
          <a:lstStyle/>
          <a:p>
            <a:pPr algn="l" marL="0" indent="0" lvl="0">
              <a:lnSpc>
                <a:spcPts val="4692"/>
              </a:lnSpc>
              <a:spcBef>
                <a:spcPct val="0"/>
              </a:spcBef>
            </a:pPr>
            <a:r>
              <a:rPr lang="en-US" sz="6428">
                <a:solidFill>
                  <a:srgbClr val="FE89AA"/>
                </a:solidFill>
                <a:latin typeface="Times New Roman"/>
                <a:ea typeface="Times New Roman"/>
                <a:cs typeface="Times New Roman"/>
                <a:sym typeface="Times New Roman"/>
              </a:rPr>
              <a:t>Discussion and Analysis</a:t>
            </a:r>
          </a:p>
        </p:txBody>
      </p:sp>
      <p:sp>
        <p:nvSpPr>
          <p:cNvPr name="TextBox 3" id="3"/>
          <p:cNvSpPr txBox="true"/>
          <p:nvPr/>
        </p:nvSpPr>
        <p:spPr>
          <a:xfrm rot="0">
            <a:off x="1028700" y="1868115"/>
            <a:ext cx="15845128" cy="8047990"/>
          </a:xfrm>
          <a:prstGeom prst="rect">
            <a:avLst/>
          </a:prstGeom>
        </p:spPr>
        <p:txBody>
          <a:bodyPr anchor="t" rtlCol="false" tIns="0" lIns="0" bIns="0" rIns="0">
            <a:spAutoFit/>
          </a:bodyPr>
          <a:lstStyle/>
          <a:p>
            <a:pPr algn="l" marL="820412" indent="-410206" lvl="1">
              <a:lnSpc>
                <a:spcPts val="4939"/>
              </a:lnSpc>
              <a:spcBef>
                <a:spcPct val="0"/>
              </a:spcBef>
              <a:buFont typeface="Arial"/>
              <a:buChar char="•"/>
            </a:pPr>
            <a:r>
              <a:rPr lang="en-US" sz="3799">
                <a:solidFill>
                  <a:srgbClr val="442900"/>
                </a:solidFill>
                <a:latin typeface="Aileron"/>
                <a:ea typeface="Aileron"/>
                <a:cs typeface="Aileron"/>
                <a:sym typeface="Aileron"/>
              </a:rPr>
              <a:t>St</a:t>
            </a:r>
            <a:r>
              <a:rPr lang="en-US" sz="3799">
                <a:solidFill>
                  <a:srgbClr val="442900"/>
                </a:solidFill>
                <a:latin typeface="Aileron"/>
                <a:ea typeface="Aileron"/>
                <a:cs typeface="Aileron"/>
                <a:sym typeface="Aileron"/>
              </a:rPr>
              <a:t>rengths: </a:t>
            </a:r>
            <a:r>
              <a:rPr lang="en-US" sz="3799">
                <a:solidFill>
                  <a:srgbClr val="442900"/>
                </a:solidFill>
                <a:latin typeface="Aileron"/>
                <a:ea typeface="Aileron"/>
                <a:cs typeface="Aileron"/>
                <a:sym typeface="Aileron"/>
              </a:rPr>
              <a:t>Real-time predictions, dynamic dashboard, pe</a:t>
            </a:r>
            <a:r>
              <a:rPr lang="en-US" sz="3799">
                <a:solidFill>
                  <a:srgbClr val="442900"/>
                </a:solidFill>
                <a:latin typeface="Aileron"/>
                <a:ea typeface="Aileron"/>
                <a:cs typeface="Aileron"/>
                <a:sym typeface="Aileron"/>
              </a:rPr>
              <a:t>rsonalized insurance rec</a:t>
            </a:r>
            <a:r>
              <a:rPr lang="en-US" sz="3799">
                <a:solidFill>
                  <a:srgbClr val="442900"/>
                </a:solidFill>
                <a:latin typeface="Aileron"/>
                <a:ea typeface="Aileron"/>
                <a:cs typeface="Aileron"/>
                <a:sym typeface="Aileron"/>
              </a:rPr>
              <a:t>ommendations, accurate ML models.</a:t>
            </a:r>
          </a:p>
          <a:p>
            <a:pPr algn="l">
              <a:lnSpc>
                <a:spcPts val="4939"/>
              </a:lnSpc>
              <a:spcBef>
                <a:spcPct val="0"/>
              </a:spcBef>
            </a:pPr>
          </a:p>
          <a:p>
            <a:pPr algn="l" marL="820412" indent="-410206" lvl="1">
              <a:lnSpc>
                <a:spcPts val="4939"/>
              </a:lnSpc>
              <a:buFont typeface="Arial"/>
              <a:buChar char="•"/>
            </a:pPr>
            <a:r>
              <a:rPr lang="en-US" sz="3799">
                <a:solidFill>
                  <a:srgbClr val="442900"/>
                </a:solidFill>
                <a:latin typeface="Aileron"/>
                <a:ea typeface="Aileron"/>
                <a:cs typeface="Aileron"/>
                <a:sym typeface="Aileron"/>
              </a:rPr>
              <a:t>Limitations: Small test user ba</a:t>
            </a:r>
            <a:r>
              <a:rPr lang="en-US" sz="3799">
                <a:solidFill>
                  <a:srgbClr val="442900"/>
                </a:solidFill>
                <a:latin typeface="Aileron"/>
                <a:ea typeface="Aileron"/>
                <a:cs typeface="Aileron"/>
                <a:sym typeface="Aileron"/>
              </a:rPr>
              <a:t>se, may need tuning for diverse financial behaviors, relies on accurate user data</a:t>
            </a:r>
          </a:p>
          <a:p>
            <a:pPr algn="l">
              <a:lnSpc>
                <a:spcPts val="4939"/>
              </a:lnSpc>
            </a:pPr>
          </a:p>
          <a:p>
            <a:pPr algn="l" marL="820412" indent="-410206" lvl="1">
              <a:lnSpc>
                <a:spcPts val="4939"/>
              </a:lnSpc>
              <a:buFont typeface="Arial"/>
              <a:buChar char="•"/>
            </a:pPr>
            <a:r>
              <a:rPr lang="en-US" sz="3799">
                <a:solidFill>
                  <a:srgbClr val="442900"/>
                </a:solidFill>
                <a:latin typeface="Aileron"/>
                <a:ea typeface="Aileron"/>
                <a:cs typeface="Aileron"/>
                <a:sym typeface="Aileron"/>
              </a:rPr>
              <a:t>As</a:t>
            </a:r>
            <a:r>
              <a:rPr lang="en-US" sz="3799">
                <a:solidFill>
                  <a:srgbClr val="442900"/>
                </a:solidFill>
                <a:latin typeface="Aileron"/>
                <a:ea typeface="Aileron"/>
                <a:cs typeface="Aileron"/>
                <a:sym typeface="Aileron"/>
              </a:rPr>
              <a:t>sumptions: Users consistently enter transactions; income and expense</a:t>
            </a:r>
            <a:r>
              <a:rPr lang="en-US" sz="3799">
                <a:solidFill>
                  <a:srgbClr val="442900"/>
                </a:solidFill>
                <a:latin typeface="Aileron"/>
                <a:ea typeface="Aileron"/>
                <a:cs typeface="Aileron"/>
                <a:sym typeface="Aileron"/>
              </a:rPr>
              <a:t> pat</a:t>
            </a:r>
            <a:r>
              <a:rPr lang="en-US" sz="3799">
                <a:solidFill>
                  <a:srgbClr val="442900"/>
                </a:solidFill>
                <a:latin typeface="Aileron"/>
                <a:ea typeface="Aileron"/>
                <a:cs typeface="Aileron"/>
                <a:sym typeface="Aileron"/>
              </a:rPr>
              <a:t>terns remain relatively stable month-to-month.</a:t>
            </a:r>
          </a:p>
          <a:p>
            <a:pPr algn="l">
              <a:lnSpc>
                <a:spcPts val="4939"/>
              </a:lnSpc>
            </a:pPr>
          </a:p>
          <a:p>
            <a:pPr algn="l" marL="820412" indent="-410206" lvl="1">
              <a:lnSpc>
                <a:spcPts val="4939"/>
              </a:lnSpc>
              <a:buFont typeface="Arial"/>
              <a:buChar char="•"/>
            </a:pPr>
            <a:r>
              <a:rPr lang="en-US" sz="3799">
                <a:solidFill>
                  <a:srgbClr val="442900"/>
                </a:solidFill>
                <a:latin typeface="Aileron"/>
                <a:ea typeface="Aileron"/>
                <a:cs typeface="Aileron"/>
                <a:sym typeface="Aileron"/>
              </a:rPr>
              <a:t>Overall Insight: System effec</a:t>
            </a:r>
            <a:r>
              <a:rPr lang="en-US" sz="3799">
                <a:solidFill>
                  <a:srgbClr val="442900"/>
                </a:solidFill>
                <a:latin typeface="Aileron"/>
                <a:ea typeface="Aileron"/>
                <a:cs typeface="Aileron"/>
                <a:sym typeface="Aileron"/>
              </a:rPr>
              <a:t>tively forecasts expenses and </a:t>
            </a:r>
            <a:r>
              <a:rPr lang="en-US" sz="3799">
                <a:solidFill>
                  <a:srgbClr val="442900"/>
                </a:solidFill>
                <a:latin typeface="Aileron"/>
                <a:ea typeface="Aileron"/>
                <a:cs typeface="Aileron"/>
                <a:sym typeface="Aileron"/>
              </a:rPr>
              <a:t>provides actionable financial guidance, but performance depends on data quality and user consistency.</a:t>
            </a:r>
          </a:p>
          <a:p>
            <a:pPr algn="ctr">
              <a:lnSpc>
                <a:spcPts val="4939"/>
              </a:lnSpc>
              <a:spcBef>
                <a:spcPct val="0"/>
              </a:spcBef>
            </a:pPr>
          </a:p>
        </p:txBody>
      </p:sp>
      <p:sp>
        <p:nvSpPr>
          <p:cNvPr name="TextBox 4" id="4"/>
          <p:cNvSpPr txBox="true"/>
          <p:nvPr/>
        </p:nvSpPr>
        <p:spPr>
          <a:xfrm rot="0">
            <a:off x="17589629" y="9788603"/>
            <a:ext cx="353616" cy="388620"/>
          </a:xfrm>
          <a:prstGeom prst="rect">
            <a:avLst/>
          </a:prstGeom>
        </p:spPr>
        <p:txBody>
          <a:bodyPr anchor="t" rtlCol="false" tIns="0" lIns="0" bIns="0" rIns="0">
            <a:spAutoFit/>
          </a:bodyPr>
          <a:lstStyle/>
          <a:p>
            <a:pPr algn="ctr">
              <a:lnSpc>
                <a:spcPts val="3120"/>
              </a:lnSpc>
              <a:spcBef>
                <a:spcPct val="0"/>
              </a:spcBef>
            </a:pPr>
            <a:r>
              <a:rPr lang="en-US" sz="2400">
                <a:solidFill>
                  <a:srgbClr val="000000"/>
                </a:solidFill>
                <a:latin typeface="Aileron"/>
                <a:ea typeface="Aileron"/>
                <a:cs typeface="Aileron"/>
                <a:sym typeface="Aileron"/>
              </a:rPr>
              <a:t>12</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AF9F4"/>
        </a:solidFill>
      </p:bgPr>
    </p:bg>
    <p:spTree>
      <p:nvGrpSpPr>
        <p:cNvPr id="1" name=""/>
        <p:cNvGrpSpPr/>
        <p:nvPr/>
      </p:nvGrpSpPr>
      <p:grpSpPr>
        <a:xfrm>
          <a:off x="0" y="0"/>
          <a:ext cx="0" cy="0"/>
          <a:chOff x="0" y="0"/>
          <a:chExt cx="0" cy="0"/>
        </a:xfrm>
      </p:grpSpPr>
      <p:sp>
        <p:nvSpPr>
          <p:cNvPr name="TextBox 2" id="2"/>
          <p:cNvSpPr txBox="true"/>
          <p:nvPr/>
        </p:nvSpPr>
        <p:spPr>
          <a:xfrm rot="0">
            <a:off x="1028700" y="798752"/>
            <a:ext cx="8830178" cy="717071"/>
          </a:xfrm>
          <a:prstGeom prst="rect">
            <a:avLst/>
          </a:prstGeom>
        </p:spPr>
        <p:txBody>
          <a:bodyPr anchor="t" rtlCol="false" tIns="0" lIns="0" bIns="0" rIns="0">
            <a:spAutoFit/>
          </a:bodyPr>
          <a:lstStyle/>
          <a:p>
            <a:pPr algn="l" marL="0" indent="0" lvl="0">
              <a:lnSpc>
                <a:spcPts val="4692"/>
              </a:lnSpc>
              <a:spcBef>
                <a:spcPct val="0"/>
              </a:spcBef>
            </a:pPr>
            <a:r>
              <a:rPr lang="en-US" sz="6428">
                <a:solidFill>
                  <a:srgbClr val="FE89AA"/>
                </a:solidFill>
                <a:latin typeface="Times New Roman"/>
                <a:ea typeface="Times New Roman"/>
                <a:cs typeface="Times New Roman"/>
                <a:sym typeface="Times New Roman"/>
              </a:rPr>
              <a:t>Application &amp; Relevance</a:t>
            </a:r>
          </a:p>
        </p:txBody>
      </p:sp>
      <p:sp>
        <p:nvSpPr>
          <p:cNvPr name="TextBox 3" id="3"/>
          <p:cNvSpPr txBox="true"/>
          <p:nvPr/>
        </p:nvSpPr>
        <p:spPr>
          <a:xfrm rot="0">
            <a:off x="309243" y="1630188"/>
            <a:ext cx="16757320" cy="8047990"/>
          </a:xfrm>
          <a:prstGeom prst="rect">
            <a:avLst/>
          </a:prstGeom>
        </p:spPr>
        <p:txBody>
          <a:bodyPr anchor="t" rtlCol="false" tIns="0" lIns="0" bIns="0" rIns="0">
            <a:spAutoFit/>
          </a:bodyPr>
          <a:lstStyle/>
          <a:p>
            <a:pPr algn="l" marL="820412" indent="-410206" lvl="1">
              <a:lnSpc>
                <a:spcPts val="4939"/>
              </a:lnSpc>
              <a:buFont typeface="Arial"/>
              <a:buChar char="•"/>
            </a:pPr>
            <a:r>
              <a:rPr lang="en-US" sz="3799">
                <a:solidFill>
                  <a:srgbClr val="442900"/>
                </a:solidFill>
                <a:latin typeface="Aileron"/>
                <a:ea typeface="Aileron"/>
                <a:cs typeface="Aileron"/>
                <a:sym typeface="Aileron"/>
              </a:rPr>
              <a:t>The sys</a:t>
            </a:r>
            <a:r>
              <a:rPr lang="en-US" sz="3799">
                <a:solidFill>
                  <a:srgbClr val="442900"/>
                </a:solidFill>
                <a:latin typeface="Aileron"/>
                <a:ea typeface="Aileron"/>
                <a:cs typeface="Aileron"/>
                <a:sym typeface="Aileron"/>
              </a:rPr>
              <a:t>tem e</a:t>
            </a:r>
            <a:r>
              <a:rPr lang="en-US" sz="3799">
                <a:solidFill>
                  <a:srgbClr val="442900"/>
                </a:solidFill>
                <a:latin typeface="Aileron"/>
                <a:ea typeface="Aileron"/>
                <a:cs typeface="Aileron"/>
                <a:sym typeface="Aileron"/>
              </a:rPr>
              <a:t>nable</a:t>
            </a:r>
            <a:r>
              <a:rPr lang="en-US" sz="3799">
                <a:solidFill>
                  <a:srgbClr val="442900"/>
                </a:solidFill>
                <a:latin typeface="Aileron"/>
                <a:ea typeface="Aileron"/>
                <a:cs typeface="Aileron"/>
                <a:sym typeface="Aileron"/>
              </a:rPr>
              <a:t>s users to automatically track expenses, detect spending behavio</a:t>
            </a:r>
            <a:r>
              <a:rPr lang="en-US" sz="3799">
                <a:solidFill>
                  <a:srgbClr val="442900"/>
                </a:solidFill>
                <a:latin typeface="Aileron"/>
                <a:ea typeface="Aileron"/>
                <a:cs typeface="Aileron"/>
                <a:sym typeface="Aileron"/>
              </a:rPr>
              <a:t>r, and plan monthly budgets using ML-driven forecasting bringing real-time financial discipline into everyday life.</a:t>
            </a:r>
          </a:p>
          <a:p>
            <a:pPr algn="l" marL="820412" indent="-410206" lvl="1">
              <a:lnSpc>
                <a:spcPts val="4939"/>
              </a:lnSpc>
              <a:buFont typeface="Arial"/>
              <a:buChar char="•"/>
            </a:pPr>
            <a:r>
              <a:rPr lang="en-US" sz="3799">
                <a:solidFill>
                  <a:srgbClr val="442900"/>
                </a:solidFill>
                <a:latin typeface="Aileron"/>
                <a:ea typeface="Aileron"/>
                <a:cs typeface="Aileron"/>
                <a:sym typeface="Aileron"/>
              </a:rPr>
              <a:t>The syst</a:t>
            </a:r>
            <a:r>
              <a:rPr lang="en-US" sz="3799">
                <a:solidFill>
                  <a:srgbClr val="442900"/>
                </a:solidFill>
                <a:latin typeface="Aileron"/>
                <a:ea typeface="Aileron"/>
                <a:cs typeface="Aileron"/>
                <a:sym typeface="Aileron"/>
              </a:rPr>
              <a:t>em assists users in making smarter financial decisions by analyzing historical spending patterns and offering AI-driven recommendations that reduce overspending and improve budgeting habits.</a:t>
            </a:r>
          </a:p>
          <a:p>
            <a:pPr algn="l" marL="820412" indent="-410206" lvl="1">
              <a:lnSpc>
                <a:spcPts val="4939"/>
              </a:lnSpc>
              <a:buFont typeface="Arial"/>
              <a:buChar char="•"/>
            </a:pPr>
            <a:r>
              <a:rPr lang="en-US" sz="3799">
                <a:solidFill>
                  <a:srgbClr val="442900"/>
                </a:solidFill>
                <a:latin typeface="Aileron"/>
                <a:ea typeface="Aileron"/>
                <a:cs typeface="Aileron"/>
                <a:sym typeface="Aileron"/>
              </a:rPr>
              <a:t>This c</a:t>
            </a:r>
            <a:r>
              <a:rPr lang="en-US" sz="3799">
                <a:solidFill>
                  <a:srgbClr val="442900"/>
                </a:solidFill>
                <a:latin typeface="Aileron"/>
                <a:ea typeface="Aileron"/>
                <a:cs typeface="Aileron"/>
                <a:sym typeface="Aileron"/>
              </a:rPr>
              <a:t>an be extended into banking apps, e-walle</a:t>
            </a:r>
            <a:r>
              <a:rPr lang="en-US" sz="3799">
                <a:solidFill>
                  <a:srgbClr val="442900"/>
                </a:solidFill>
                <a:latin typeface="Aileron"/>
                <a:ea typeface="Aileron"/>
                <a:cs typeface="Aileron"/>
                <a:sym typeface="Aileron"/>
              </a:rPr>
              <a:t>ts, or corporate expense management syst</a:t>
            </a:r>
            <a:r>
              <a:rPr lang="en-US" sz="3799">
                <a:solidFill>
                  <a:srgbClr val="442900"/>
                </a:solidFill>
                <a:latin typeface="Aileron"/>
                <a:ea typeface="Aileron"/>
                <a:cs typeface="Aileron"/>
                <a:sym typeface="Aileron"/>
              </a:rPr>
              <a:t>ems for automated financial monitoring.</a:t>
            </a:r>
          </a:p>
          <a:p>
            <a:pPr algn="l" marL="820412" indent="-410206" lvl="1">
              <a:lnSpc>
                <a:spcPts val="4939"/>
              </a:lnSpc>
              <a:buFont typeface="Arial"/>
              <a:buChar char="•"/>
            </a:pPr>
            <a:r>
              <a:rPr lang="en-US" sz="3799">
                <a:solidFill>
                  <a:srgbClr val="442900"/>
                </a:solidFill>
                <a:latin typeface="Aileron"/>
                <a:ea typeface="Aileron"/>
                <a:cs typeface="Aileron"/>
                <a:sym typeface="Aileron"/>
              </a:rPr>
              <a:t>Th</a:t>
            </a:r>
            <a:r>
              <a:rPr lang="en-US" sz="3799">
                <a:solidFill>
                  <a:srgbClr val="442900"/>
                </a:solidFill>
                <a:latin typeface="Aileron"/>
                <a:ea typeface="Aileron"/>
                <a:cs typeface="Aileron"/>
                <a:sym typeface="Aileron"/>
              </a:rPr>
              <a:t>e project showcases practical application of machine learning, AI, and data preprocessing in solving real-world financial problems, making it relevant for research, fintech innovation, and industry adoption.</a:t>
            </a:r>
          </a:p>
          <a:p>
            <a:pPr algn="l">
              <a:lnSpc>
                <a:spcPts val="4939"/>
              </a:lnSpc>
              <a:spcBef>
                <a:spcPct val="0"/>
              </a:spcBef>
            </a:pPr>
          </a:p>
        </p:txBody>
      </p:sp>
      <p:sp>
        <p:nvSpPr>
          <p:cNvPr name="TextBox 4" id="4"/>
          <p:cNvSpPr txBox="true"/>
          <p:nvPr/>
        </p:nvSpPr>
        <p:spPr>
          <a:xfrm rot="0">
            <a:off x="17589629" y="9788603"/>
            <a:ext cx="353616" cy="388620"/>
          </a:xfrm>
          <a:prstGeom prst="rect">
            <a:avLst/>
          </a:prstGeom>
        </p:spPr>
        <p:txBody>
          <a:bodyPr anchor="t" rtlCol="false" tIns="0" lIns="0" bIns="0" rIns="0">
            <a:spAutoFit/>
          </a:bodyPr>
          <a:lstStyle/>
          <a:p>
            <a:pPr algn="ctr">
              <a:lnSpc>
                <a:spcPts val="3120"/>
              </a:lnSpc>
              <a:spcBef>
                <a:spcPct val="0"/>
              </a:spcBef>
            </a:pPr>
            <a:r>
              <a:rPr lang="en-US" sz="2400">
                <a:solidFill>
                  <a:srgbClr val="000000"/>
                </a:solidFill>
                <a:latin typeface="Aileron"/>
                <a:ea typeface="Aileron"/>
                <a:cs typeface="Aileron"/>
                <a:sym typeface="Aileron"/>
              </a:rPr>
              <a:t>13</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AF9F4"/>
        </a:solidFill>
      </p:bgPr>
    </p:bg>
    <p:spTree>
      <p:nvGrpSpPr>
        <p:cNvPr id="1" name=""/>
        <p:cNvGrpSpPr/>
        <p:nvPr/>
      </p:nvGrpSpPr>
      <p:grpSpPr>
        <a:xfrm>
          <a:off x="0" y="0"/>
          <a:ext cx="0" cy="0"/>
          <a:chOff x="0" y="0"/>
          <a:chExt cx="0" cy="0"/>
        </a:xfrm>
      </p:grpSpPr>
      <p:sp>
        <p:nvSpPr>
          <p:cNvPr name="TextBox 2" id="2"/>
          <p:cNvSpPr txBox="true"/>
          <p:nvPr/>
        </p:nvSpPr>
        <p:spPr>
          <a:xfrm rot="0">
            <a:off x="1028700" y="798752"/>
            <a:ext cx="8830178" cy="717071"/>
          </a:xfrm>
          <a:prstGeom prst="rect">
            <a:avLst/>
          </a:prstGeom>
        </p:spPr>
        <p:txBody>
          <a:bodyPr anchor="t" rtlCol="false" tIns="0" lIns="0" bIns="0" rIns="0">
            <a:spAutoFit/>
          </a:bodyPr>
          <a:lstStyle/>
          <a:p>
            <a:pPr algn="l" marL="0" indent="0" lvl="0">
              <a:lnSpc>
                <a:spcPts val="4692"/>
              </a:lnSpc>
              <a:spcBef>
                <a:spcPct val="0"/>
              </a:spcBef>
            </a:pPr>
            <a:r>
              <a:rPr lang="en-US" sz="6428">
                <a:solidFill>
                  <a:srgbClr val="FE89AA"/>
                </a:solidFill>
                <a:latin typeface="Times New Roman"/>
                <a:ea typeface="Times New Roman"/>
                <a:cs typeface="Times New Roman"/>
                <a:sym typeface="Times New Roman"/>
              </a:rPr>
              <a:t>Conclusion</a:t>
            </a:r>
          </a:p>
        </p:txBody>
      </p:sp>
      <p:sp>
        <p:nvSpPr>
          <p:cNvPr name="TextBox 3" id="3"/>
          <p:cNvSpPr txBox="true"/>
          <p:nvPr/>
        </p:nvSpPr>
        <p:spPr>
          <a:xfrm rot="0">
            <a:off x="584298" y="1877640"/>
            <a:ext cx="16289529" cy="6851650"/>
          </a:xfrm>
          <a:prstGeom prst="rect">
            <a:avLst/>
          </a:prstGeom>
        </p:spPr>
        <p:txBody>
          <a:bodyPr anchor="t" rtlCol="false" tIns="0" lIns="0" bIns="0" rIns="0">
            <a:spAutoFit/>
          </a:bodyPr>
          <a:lstStyle/>
          <a:p>
            <a:pPr algn="l" marL="755644" indent="-377822" lvl="1">
              <a:lnSpc>
                <a:spcPts val="4549"/>
              </a:lnSpc>
              <a:buFont typeface="Arial"/>
              <a:buChar char="•"/>
            </a:pPr>
            <a:r>
              <a:rPr lang="en-US" sz="3499">
                <a:solidFill>
                  <a:srgbClr val="442900"/>
                </a:solidFill>
                <a:latin typeface="Aileron"/>
                <a:ea typeface="Aileron"/>
                <a:cs typeface="Aileron"/>
                <a:sym typeface="Aileron"/>
              </a:rPr>
              <a:t>Developed an AI/ML-based Expense T</a:t>
            </a:r>
            <a:r>
              <a:rPr lang="en-US" sz="3499">
                <a:solidFill>
                  <a:srgbClr val="442900"/>
                </a:solidFill>
                <a:latin typeface="Aileron"/>
                <a:ea typeface="Aileron"/>
                <a:cs typeface="Aileron"/>
                <a:sym typeface="Aileron"/>
              </a:rPr>
              <a:t>r</a:t>
            </a:r>
            <a:r>
              <a:rPr lang="en-US" sz="3499">
                <a:solidFill>
                  <a:srgbClr val="442900"/>
                </a:solidFill>
                <a:latin typeface="Aileron"/>
                <a:ea typeface="Aileron"/>
                <a:cs typeface="Aileron"/>
                <a:sym typeface="Aileron"/>
              </a:rPr>
              <a:t>acking System that forecasts monthly expenses and offers pe</a:t>
            </a:r>
            <a:r>
              <a:rPr lang="en-US" sz="3499">
                <a:solidFill>
                  <a:srgbClr val="442900"/>
                </a:solidFill>
                <a:latin typeface="Aileron"/>
                <a:ea typeface="Aileron"/>
                <a:cs typeface="Aileron"/>
                <a:sym typeface="Aileron"/>
              </a:rPr>
              <a:t>rsonalized insurance recommendations.</a:t>
            </a:r>
          </a:p>
          <a:p>
            <a:pPr algn="l" marL="755644" indent="-377822" lvl="1">
              <a:lnSpc>
                <a:spcPts val="4549"/>
              </a:lnSpc>
              <a:buFont typeface="Arial"/>
              <a:buChar char="•"/>
            </a:pPr>
            <a:r>
              <a:rPr lang="en-US" sz="3499">
                <a:solidFill>
                  <a:srgbClr val="442900"/>
                </a:solidFill>
                <a:latin typeface="Aileron"/>
                <a:ea typeface="Aileron"/>
                <a:cs typeface="Aileron"/>
                <a:sym typeface="Aileron"/>
              </a:rPr>
              <a:t>Imple</a:t>
            </a:r>
            <a:r>
              <a:rPr lang="en-US" sz="3499">
                <a:solidFill>
                  <a:srgbClr val="442900"/>
                </a:solidFill>
                <a:latin typeface="Aileron"/>
                <a:ea typeface="Aileron"/>
                <a:cs typeface="Aileron"/>
                <a:sym typeface="Aileron"/>
              </a:rPr>
              <a:t>mented thorough data preprocessing, feature engine</a:t>
            </a:r>
            <a:r>
              <a:rPr lang="en-US" sz="3499">
                <a:solidFill>
                  <a:srgbClr val="442900"/>
                </a:solidFill>
                <a:latin typeface="Aileron"/>
                <a:ea typeface="Aileron"/>
                <a:cs typeface="Aileron"/>
                <a:sym typeface="Aileron"/>
              </a:rPr>
              <a:t>ering, and model evaluation, resulting in accurate predictions with Random Forest and SVR models.</a:t>
            </a:r>
          </a:p>
          <a:p>
            <a:pPr algn="l" marL="755644" indent="-377822" lvl="1">
              <a:lnSpc>
                <a:spcPts val="4549"/>
              </a:lnSpc>
              <a:buFont typeface="Arial"/>
              <a:buChar char="•"/>
            </a:pPr>
            <a:r>
              <a:rPr lang="en-US" sz="3499">
                <a:solidFill>
                  <a:srgbClr val="442900"/>
                </a:solidFill>
                <a:latin typeface="Aileron"/>
                <a:ea typeface="Aileron"/>
                <a:cs typeface="Aileron"/>
                <a:sym typeface="Aileron"/>
              </a:rPr>
              <a:t>Designed a real-time interactive dashboard to show income vs. expenses, spending by category, and predicted financial trends.</a:t>
            </a:r>
          </a:p>
          <a:p>
            <a:pPr algn="l" marL="755644" indent="-377822" lvl="1">
              <a:lnSpc>
                <a:spcPts val="4549"/>
              </a:lnSpc>
              <a:spcBef>
                <a:spcPct val="0"/>
              </a:spcBef>
              <a:buFont typeface="Arial"/>
              <a:buChar char="•"/>
            </a:pPr>
            <a:r>
              <a:rPr lang="en-US" sz="3499">
                <a:solidFill>
                  <a:srgbClr val="442900"/>
                </a:solidFill>
                <a:latin typeface="Aileron"/>
                <a:ea typeface="Aileron"/>
                <a:cs typeface="Aileron"/>
                <a:sym typeface="Aileron"/>
              </a:rPr>
              <a:t>In</a:t>
            </a:r>
            <a:r>
              <a:rPr lang="en-US" sz="3499">
                <a:solidFill>
                  <a:srgbClr val="442900"/>
                </a:solidFill>
                <a:latin typeface="Aileron"/>
                <a:ea typeface="Aileron"/>
                <a:cs typeface="Aileron"/>
                <a:sym typeface="Aileron"/>
              </a:rPr>
              <a:t>tegrated an AI chatbot that improves user experience by providing budgeting tips, financial insigh</a:t>
            </a:r>
            <a:r>
              <a:rPr lang="en-US" sz="3499">
                <a:solidFill>
                  <a:srgbClr val="442900"/>
                </a:solidFill>
                <a:latin typeface="Aileron"/>
                <a:ea typeface="Aileron"/>
                <a:cs typeface="Aileron"/>
                <a:sym typeface="Aileron"/>
              </a:rPr>
              <a:t>ts, and insurance advice.</a:t>
            </a:r>
          </a:p>
          <a:p>
            <a:pPr algn="l">
              <a:lnSpc>
                <a:spcPts val="4549"/>
              </a:lnSpc>
              <a:spcBef>
                <a:spcPct val="0"/>
              </a:spcBef>
            </a:pPr>
          </a:p>
          <a:p>
            <a:pPr algn="l">
              <a:lnSpc>
                <a:spcPts val="4549"/>
              </a:lnSpc>
            </a:pPr>
            <a:r>
              <a:rPr lang="en-US" sz="3499">
                <a:solidFill>
                  <a:srgbClr val="442900"/>
                </a:solidFill>
                <a:latin typeface="Aileron"/>
                <a:ea typeface="Aileron"/>
                <a:cs typeface="Aileron"/>
                <a:sym typeface="Aileron"/>
              </a:rPr>
              <a:t>Overall, the syst</a:t>
            </a:r>
            <a:r>
              <a:rPr lang="en-US" sz="3499">
                <a:solidFill>
                  <a:srgbClr val="442900"/>
                </a:solidFill>
                <a:latin typeface="Aileron"/>
                <a:ea typeface="Aileron"/>
                <a:cs typeface="Aileron"/>
                <a:sym typeface="Aileron"/>
              </a:rPr>
              <a:t>em helps users take control of their finances, understand their spending habits, and make informed choices about savings and investments.</a:t>
            </a:r>
          </a:p>
        </p:txBody>
      </p:sp>
      <p:sp>
        <p:nvSpPr>
          <p:cNvPr name="TextBox 4" id="4"/>
          <p:cNvSpPr txBox="true"/>
          <p:nvPr/>
        </p:nvSpPr>
        <p:spPr>
          <a:xfrm rot="0">
            <a:off x="17589629" y="9788603"/>
            <a:ext cx="353616" cy="388620"/>
          </a:xfrm>
          <a:prstGeom prst="rect">
            <a:avLst/>
          </a:prstGeom>
        </p:spPr>
        <p:txBody>
          <a:bodyPr anchor="t" rtlCol="false" tIns="0" lIns="0" bIns="0" rIns="0">
            <a:spAutoFit/>
          </a:bodyPr>
          <a:lstStyle/>
          <a:p>
            <a:pPr algn="ctr">
              <a:lnSpc>
                <a:spcPts val="3120"/>
              </a:lnSpc>
              <a:spcBef>
                <a:spcPct val="0"/>
              </a:spcBef>
            </a:pPr>
            <a:r>
              <a:rPr lang="en-US" sz="2400">
                <a:solidFill>
                  <a:srgbClr val="000000"/>
                </a:solidFill>
                <a:latin typeface="Aileron"/>
                <a:ea typeface="Aileron"/>
                <a:cs typeface="Aileron"/>
                <a:sym typeface="Aileron"/>
              </a:rPr>
              <a:t>15</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AF9F4"/>
        </a:solidFill>
      </p:bgPr>
    </p:bg>
    <p:spTree>
      <p:nvGrpSpPr>
        <p:cNvPr id="1" name=""/>
        <p:cNvGrpSpPr/>
        <p:nvPr/>
      </p:nvGrpSpPr>
      <p:grpSpPr>
        <a:xfrm>
          <a:off x="0" y="0"/>
          <a:ext cx="0" cy="0"/>
          <a:chOff x="0" y="0"/>
          <a:chExt cx="0" cy="0"/>
        </a:xfrm>
      </p:grpSpPr>
      <p:sp>
        <p:nvSpPr>
          <p:cNvPr name="TextBox 2" id="2"/>
          <p:cNvSpPr txBox="true"/>
          <p:nvPr/>
        </p:nvSpPr>
        <p:spPr>
          <a:xfrm rot="0">
            <a:off x="1028700" y="798752"/>
            <a:ext cx="8830178" cy="717071"/>
          </a:xfrm>
          <a:prstGeom prst="rect">
            <a:avLst/>
          </a:prstGeom>
        </p:spPr>
        <p:txBody>
          <a:bodyPr anchor="t" rtlCol="false" tIns="0" lIns="0" bIns="0" rIns="0">
            <a:spAutoFit/>
          </a:bodyPr>
          <a:lstStyle/>
          <a:p>
            <a:pPr algn="l" marL="0" indent="0" lvl="0">
              <a:lnSpc>
                <a:spcPts val="4692"/>
              </a:lnSpc>
              <a:spcBef>
                <a:spcPct val="0"/>
              </a:spcBef>
            </a:pPr>
            <a:r>
              <a:rPr lang="en-US" sz="6428">
                <a:solidFill>
                  <a:srgbClr val="FE89AA"/>
                </a:solidFill>
                <a:latin typeface="Times New Roman"/>
                <a:ea typeface="Times New Roman"/>
                <a:cs typeface="Times New Roman"/>
                <a:sym typeface="Times New Roman"/>
              </a:rPr>
              <a:t>References</a:t>
            </a:r>
          </a:p>
        </p:txBody>
      </p:sp>
      <p:sp>
        <p:nvSpPr>
          <p:cNvPr name="TextBox 3" id="3"/>
          <p:cNvSpPr txBox="true"/>
          <p:nvPr/>
        </p:nvSpPr>
        <p:spPr>
          <a:xfrm rot="0">
            <a:off x="1028700" y="1887165"/>
            <a:ext cx="16230600" cy="7762875"/>
          </a:xfrm>
          <a:prstGeom prst="rect">
            <a:avLst/>
          </a:prstGeom>
        </p:spPr>
        <p:txBody>
          <a:bodyPr anchor="t" rtlCol="false" tIns="0" lIns="0" bIns="0" rIns="0">
            <a:spAutoFit/>
          </a:bodyPr>
          <a:lstStyle/>
          <a:p>
            <a:pPr algn="l" marL="647697" indent="-323848" lvl="1">
              <a:lnSpc>
                <a:spcPts val="3899"/>
              </a:lnSpc>
              <a:spcBef>
                <a:spcPct val="0"/>
              </a:spcBef>
              <a:buFont typeface="Arial"/>
              <a:buChar char="•"/>
            </a:pPr>
            <a:r>
              <a:rPr lang="en-US" sz="2999">
                <a:solidFill>
                  <a:srgbClr val="442900"/>
                </a:solidFill>
                <a:latin typeface="Aileron"/>
                <a:ea typeface="Aileron"/>
                <a:cs typeface="Aileron"/>
                <a:sym typeface="Aileron"/>
              </a:rPr>
              <a:t>[1]A. Gupta, R. Sharma, and N. Verma, “Spending T</a:t>
            </a:r>
            <a:r>
              <a:rPr lang="en-US" sz="2999">
                <a:solidFill>
                  <a:srgbClr val="442900"/>
                </a:solidFill>
                <a:latin typeface="Aileron"/>
                <a:ea typeface="Aileron"/>
                <a:cs typeface="Aileron"/>
                <a:sym typeface="Aileron"/>
              </a:rPr>
              <a:t>r</a:t>
            </a:r>
            <a:r>
              <a:rPr lang="en-US" sz="2999">
                <a:solidFill>
                  <a:srgbClr val="442900"/>
                </a:solidFill>
                <a:latin typeface="Aileron"/>
                <a:ea typeface="Aileron"/>
                <a:cs typeface="Aileron"/>
                <a:sym typeface="Aileron"/>
              </a:rPr>
              <a:t>acker: A Smart Approach to Track Daily Finances,” Turkish Journal of Mathemati</a:t>
            </a:r>
            <a:r>
              <a:rPr lang="en-US" sz="2999">
                <a:solidFill>
                  <a:srgbClr val="442900"/>
                </a:solidFill>
                <a:latin typeface="Aileron"/>
                <a:ea typeface="Aileron"/>
                <a:cs typeface="Aileron"/>
                <a:sym typeface="Aileron"/>
              </a:rPr>
              <a:t>cs Education, vol. 12,</a:t>
            </a:r>
            <a:r>
              <a:rPr lang="en-US" sz="2999">
                <a:solidFill>
                  <a:srgbClr val="442900"/>
                </a:solidFill>
                <a:latin typeface="Aileron"/>
                <a:ea typeface="Aileron"/>
                <a:cs typeface="Aileron"/>
                <a:sym typeface="Aileron"/>
              </a:rPr>
              <a:t> no. 6, pp. 123–134, Apr. 2021.</a:t>
            </a:r>
          </a:p>
          <a:p>
            <a:pPr algn="l" marL="647697" indent="-323848" lvl="1">
              <a:lnSpc>
                <a:spcPts val="3899"/>
              </a:lnSpc>
              <a:buFont typeface="Arial"/>
              <a:buChar char="•"/>
            </a:pPr>
            <a:r>
              <a:rPr lang="en-US" sz="2999">
                <a:solidFill>
                  <a:srgbClr val="442900"/>
                </a:solidFill>
                <a:latin typeface="Aileron"/>
                <a:ea typeface="Aileron"/>
                <a:cs typeface="Aileron"/>
                <a:sym typeface="Aileron"/>
              </a:rPr>
              <a:t>[2]L. Liu, X. Zou, Y. Ma, and Z. Shao, “A P</a:t>
            </a:r>
            <a:r>
              <a:rPr lang="en-US" sz="2999">
                <a:solidFill>
                  <a:srgbClr val="442900"/>
                </a:solidFill>
                <a:latin typeface="Aileron"/>
                <a:ea typeface="Aileron"/>
                <a:cs typeface="Aileron"/>
                <a:sym typeface="Aileron"/>
              </a:rPr>
              <a:t>ersonal Expense Tracking System Based on OCR and Machine Learning,” Revista Iberoamericana de Inteligencia Artificial, vol. 22, no. 64, pp. 45–56, 2019.</a:t>
            </a:r>
          </a:p>
          <a:p>
            <a:pPr algn="l" marL="647697" indent="-323848" lvl="1">
              <a:lnSpc>
                <a:spcPts val="3899"/>
              </a:lnSpc>
              <a:buFont typeface="Arial"/>
              <a:buChar char="•"/>
            </a:pPr>
            <a:r>
              <a:rPr lang="en-US" sz="2999">
                <a:solidFill>
                  <a:srgbClr val="442900"/>
                </a:solidFill>
                <a:latin typeface="Aileron"/>
                <a:ea typeface="Aileron"/>
                <a:cs typeface="Aileron"/>
                <a:sym typeface="Aileron"/>
              </a:rPr>
              <a:t>[3]K. Charan, A. Reddy, S. Kumar, and P. Mishra, “Financial Forecasting Using Machine Learning Algorithms,” International Journal of Engineering Research and Technology (IJERT), vol. 11, no. 5, pp. 789–795, May 2022.</a:t>
            </a:r>
          </a:p>
          <a:p>
            <a:pPr algn="l" marL="647697" indent="-323848" lvl="1">
              <a:lnSpc>
                <a:spcPts val="3899"/>
              </a:lnSpc>
              <a:spcBef>
                <a:spcPct val="0"/>
              </a:spcBef>
              <a:buFont typeface="Arial"/>
              <a:buChar char="•"/>
            </a:pPr>
            <a:r>
              <a:rPr lang="en-US" sz="2999">
                <a:solidFill>
                  <a:srgbClr val="442900"/>
                </a:solidFill>
                <a:latin typeface="Aileron"/>
                <a:ea typeface="Aileron"/>
                <a:cs typeface="Aileron"/>
                <a:sym typeface="Aileron"/>
              </a:rPr>
              <a:t>[4]T. S. Walia, R. S. Chimombe, G. Chandra, A. Noor, P. T. C. Chirag, and C. Sharma, “WealthGuardian—Smart Expense Management Usi</a:t>
            </a:r>
            <a:r>
              <a:rPr lang="en-US" sz="2999">
                <a:solidFill>
                  <a:srgbClr val="442900"/>
                </a:solidFill>
                <a:latin typeface="Aileron"/>
                <a:ea typeface="Aileron"/>
                <a:cs typeface="Aileron"/>
                <a:sym typeface="Aileron"/>
              </a:rPr>
              <a:t>n</a:t>
            </a:r>
            <a:r>
              <a:rPr lang="en-US" sz="2999">
                <a:solidFill>
                  <a:srgbClr val="442900"/>
                </a:solidFill>
                <a:latin typeface="Aileron"/>
                <a:ea typeface="Aileron"/>
                <a:cs typeface="Aileron"/>
                <a:sym typeface="Aileron"/>
              </a:rPr>
              <a:t>g Machine Learning,” International Journal for Research in Applied Science</a:t>
            </a:r>
            <a:r>
              <a:rPr lang="en-US" sz="2999">
                <a:solidFill>
                  <a:srgbClr val="442900"/>
                </a:solidFill>
                <a:latin typeface="Aileron"/>
                <a:ea typeface="Aileron"/>
                <a:cs typeface="Aileron"/>
                <a:sym typeface="Aileron"/>
              </a:rPr>
              <a:t> and Engineering Technology (IJRASET), vol. 13, no. 5, pp. 441–447, May 2025, doi: 10.22214/ijraset.2025.70173.</a:t>
            </a:r>
          </a:p>
          <a:p>
            <a:pPr algn="l" marL="647697" indent="-323848" lvl="1">
              <a:lnSpc>
                <a:spcPts val="3899"/>
              </a:lnSpc>
              <a:buFont typeface="Arial"/>
              <a:buChar char="•"/>
            </a:pPr>
            <a:r>
              <a:rPr lang="en-US" sz="2999">
                <a:solidFill>
                  <a:srgbClr val="442900"/>
                </a:solidFill>
                <a:latin typeface="Aileron"/>
                <a:ea typeface="Aileron"/>
                <a:cs typeface="Aileron"/>
                <a:sym typeface="Aileron"/>
              </a:rPr>
              <a:t>[5]A. Kum</a:t>
            </a:r>
            <a:r>
              <a:rPr lang="en-US" sz="2999">
                <a:solidFill>
                  <a:srgbClr val="442900"/>
                </a:solidFill>
                <a:latin typeface="Aileron"/>
                <a:ea typeface="Aileron"/>
                <a:cs typeface="Aileron"/>
                <a:sym typeface="Aileron"/>
              </a:rPr>
              <a:t>ar and M.</a:t>
            </a:r>
            <a:r>
              <a:rPr lang="en-US" sz="2999">
                <a:solidFill>
                  <a:srgbClr val="442900"/>
                </a:solidFill>
                <a:latin typeface="Aileron"/>
                <a:ea typeface="Aileron"/>
                <a:cs typeface="Aileron"/>
                <a:sym typeface="Aileron"/>
              </a:rPr>
              <a:t> Sharma, “Financial Applications of Machine Learning: A Literature Review and Research Opportunities,” Expert Systems with Applications, vol. 219, art. no. 119640, Jun. 2023, doi: 10.1016/j.eswa.2023.119640.</a:t>
            </a:r>
          </a:p>
          <a:p>
            <a:pPr algn="l">
              <a:lnSpc>
                <a:spcPts val="3899"/>
              </a:lnSpc>
            </a:pPr>
          </a:p>
        </p:txBody>
      </p:sp>
      <p:sp>
        <p:nvSpPr>
          <p:cNvPr name="TextBox 4" id="4"/>
          <p:cNvSpPr txBox="true"/>
          <p:nvPr/>
        </p:nvSpPr>
        <p:spPr>
          <a:xfrm rot="0">
            <a:off x="17589629" y="9788603"/>
            <a:ext cx="353616" cy="388620"/>
          </a:xfrm>
          <a:prstGeom prst="rect">
            <a:avLst/>
          </a:prstGeom>
        </p:spPr>
        <p:txBody>
          <a:bodyPr anchor="t" rtlCol="false" tIns="0" lIns="0" bIns="0" rIns="0">
            <a:spAutoFit/>
          </a:bodyPr>
          <a:lstStyle/>
          <a:p>
            <a:pPr algn="ctr">
              <a:lnSpc>
                <a:spcPts val="3120"/>
              </a:lnSpc>
              <a:spcBef>
                <a:spcPct val="0"/>
              </a:spcBef>
            </a:pPr>
            <a:r>
              <a:rPr lang="en-US" sz="2400">
                <a:solidFill>
                  <a:srgbClr val="000000"/>
                </a:solidFill>
                <a:latin typeface="Aileron"/>
                <a:ea typeface="Aileron"/>
                <a:cs typeface="Aileron"/>
                <a:sym typeface="Aileron"/>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sp>
        <p:nvSpPr>
          <p:cNvPr name="Freeform 2" id="2"/>
          <p:cNvSpPr/>
          <p:nvPr/>
        </p:nvSpPr>
        <p:spPr>
          <a:xfrm flipH="false" flipV="false" rot="0">
            <a:off x="5486400" y="4145973"/>
            <a:ext cx="7315200" cy="1995055"/>
          </a:xfrm>
          <a:custGeom>
            <a:avLst/>
            <a:gdLst/>
            <a:ahLst/>
            <a:cxnLst/>
            <a:rect r="r" b="b" t="t" l="l"/>
            <a:pathLst>
              <a:path h="1995055" w="7315200">
                <a:moveTo>
                  <a:pt x="0" y="0"/>
                </a:moveTo>
                <a:lnTo>
                  <a:pt x="7315200" y="0"/>
                </a:lnTo>
                <a:lnTo>
                  <a:pt x="7315200" y="1995054"/>
                </a:lnTo>
                <a:lnTo>
                  <a:pt x="0" y="19950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7437229" y="9636203"/>
            <a:ext cx="353616" cy="388620"/>
          </a:xfrm>
          <a:prstGeom prst="rect">
            <a:avLst/>
          </a:prstGeom>
        </p:spPr>
        <p:txBody>
          <a:bodyPr anchor="t" rtlCol="false" tIns="0" lIns="0" bIns="0" rIns="0">
            <a:spAutoFit/>
          </a:bodyPr>
          <a:lstStyle/>
          <a:p>
            <a:pPr algn="ctr">
              <a:lnSpc>
                <a:spcPts val="3120"/>
              </a:lnSpc>
              <a:spcBef>
                <a:spcPct val="0"/>
              </a:spcBef>
            </a:pPr>
            <a:r>
              <a:rPr lang="en-US" sz="2400">
                <a:solidFill>
                  <a:srgbClr val="000000"/>
                </a:solidFill>
                <a:latin typeface="Aileron"/>
                <a:ea typeface="Aileron"/>
                <a:cs typeface="Aileron"/>
                <a:sym typeface="Aileron"/>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DAG6Fr018DU</dc:identifier>
  <dcterms:modified xsi:type="dcterms:W3CDTF">2011-08-01T06:04:30Z</dcterms:modified>
  <cp:revision>1</cp:revision>
  <dc:title>Research Methodology</dc:title>
</cp:coreProperties>
</file>